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[0:00–0:05]</a:t>
            </a:r>
          </a:p>
          <a:p>
            <a:r>
              <a:t>Hi, I'm Adam Fortuna. This is Overwater.ing. Question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[0:05–0:30]</a:t>
            </a:r>
          </a:p>
          <a:p>
            <a:r>
              <a:t>In July I went to Perspectives Over Pints at Fisher Brewing, and The Yard Farmer gave the talk.</a:t>
            </a:r>
          </a:p>
          <a:p>
            <a:r>
              <a:t>Most of Utah's water goes on grass, and the state will pay you to replace it. We booked our own</a:t>
            </a:r>
          </a:p>
          <a:p>
            <a:r>
              <a:t>yard consult for November. But my first question was: how much lawn do I have, and what does it</a:t>
            </a:r>
          </a:p>
          <a:p>
            <a:r>
              <a:t>really need? Nobody could tell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[0:30–0:42]</a:t>
            </a:r>
          </a:p>
          <a:p>
            <a:r>
              <a:t>About 60 percent of Utah's city water goes outdoors. And since indoor water flows back to the</a:t>
            </a:r>
          </a:p>
          <a:p>
            <a:r>
              <a:t>river, outdoor watering is 96 percent of what our cities use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[0:42–1:00]</a:t>
            </a:r>
          </a:p>
          <a:p>
            <a:r>
              <a:t>Great Salt Lake is eight feet below healthy. Meanwhile Utah has 48 data centers, and since May,</a:t>
            </a:r>
          </a:p>
          <a:p>
            <a:r>
              <a:t>new ones can't add to the lake's depletion. One proposed campus is about a thousand acre-feet a</a:t>
            </a:r>
          </a:p>
          <a:p>
            <a:r>
              <a:t>year. That water has to come from somewhere. The biggest place to find it is the yard.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[1:00–1:10]</a:t>
            </a:r>
          </a:p>
          <a:p>
            <a:r>
              <a:t>The state already pays up to three dollars a square foot to replace grass. But nobody knows, lot</a:t>
            </a:r>
          </a:p>
          <a:p>
            <a:r>
              <a:t>by lot, how much lawn there is. So I built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[1:10–3:00]</a:t>
            </a:r>
          </a:p>
          <a:p>
            <a:r>
              <a:t>(Switch to the browser. Full click path and fallbacks are in demo.md.)</a:t>
            </a:r>
          </a:p>
          <a:p>
            <a:r>
              <a:t>1:10 Home page. Type "603 E South Temple", the Governor's Mansion. Pick it.</a:t>
            </a:r>
          </a:p>
          <a:p>
            <a:r>
              <a:t>1:20 This is the 2024 aerial photo. Green is lawn, dark green is trees, red is buildings. 11,000</a:t>
            </a:r>
          </a:p>
          <a:p>
            <a:r>
              <a:t>square feet of lawn, confidence high. If we got a shape wrong, you tap it, and that correction</a:t>
            </a:r>
          </a:p>
          <a:p>
            <a:r>
              <a:t>trains the model.</a:t>
            </a:r>
          </a:p>
          <a:p>
            <a:r>
              <a:t>1:35 What it needs: about 29 inches a season in Salt Lake's weather, 200,000 gallons a year.</a:t>
            </a:r>
          </a:p>
          <a:p>
            <a:r>
              <a:t>1:45 Add the bill: upload the photo. Claude reads twelve months of usage in a few seconds and</a:t>
            </a:r>
          </a:p>
          <a:p>
            <a:r>
              <a:t>we compare outdoor use to what the lawn needs.</a:t>
            </a:r>
          </a:p>
          <a:p>
            <a:r>
              <a:t>2:00 Build my watering plan: pick spray heads and a basic timer. One thing to do, gallons saved,</a:t>
            </a:r>
          </a:p>
          <a:p>
            <a:r>
              <a:t>and a month-by-month schedule.</a:t>
            </a:r>
          </a:p>
          <a:p>
            <a:r>
              <a:t>2:15 Subscribe to the watering calendar, and the controller picks it up. This week the state</a:t>
            </a:r>
          </a:p>
          <a:p>
            <a:r>
              <a:t>guide says no watering, so the controller pauses itself.</a:t>
            </a:r>
          </a:p>
          <a:p>
            <a:r>
              <a:t>2:35 Go native: the before and after, the plants, the designers to call.</a:t>
            </a:r>
          </a:p>
          <a:p>
            <a:r>
              <a:t>2:45 The rebate: up to $33,000 here, from Central Utah Water Conservancy District, with the city</a:t>
            </a:r>
          </a:p>
          <a:p>
            <a:r>
              <a:t>and water district this lot is in.</a:t>
            </a:r>
          </a:p>
          <a:p>
            <a:r>
              <a:t>2:55 And it isn't just these neighborhoods: any address in Utah gets measured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[3:00–3:10]</a:t>
            </a:r>
          </a:p>
          <a:p>
            <a:r>
              <a:t>It's live: twelve thousand eight hundred lots precomputed, any address in all 29 counties</a:t>
            </a:r>
          </a:p>
          <a:p>
            <a:r>
              <a:t>measured on demand, and it tracks the state's own Greenspace model lot by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[3:10–3:40]</a:t>
            </a:r>
          </a:p>
          <a:p>
            <a:r>
              <a:t>Under the hood: 60-centimeter aerial imagery, haze-corrected NDVI to find what's growing, Meta's</a:t>
            </a:r>
          </a:p>
          <a:p>
            <a:r>
              <a:t>LiDAR tree heights to pull out trees, and building footprints, all computed in the browser and</a:t>
            </a:r>
          </a:p>
          <a:p>
            <a:r>
              <a:t>on Cloudflare's edge. Then local weather and the FAO-56 method give what the lawn needs, tied to</a:t>
            </a:r>
          </a:p>
          <a:p>
            <a:r>
              <a:t>the state's weekly guide. And we close the loop: a calendar and API the sprinkler controller</a:t>
            </a:r>
          </a:p>
          <a:p>
            <a:r>
              <a:t>follows. Claude reads bills to measure the result, and every correction trains our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[3:40–3:52]</a:t>
            </a:r>
          </a:p>
          <a:p>
            <a:r>
              <a:t>Water is energy: about 650 kilowatt-hours per acre-foot. And two tenths of a percent of Utah's</a:t>
            </a:r>
          </a:p>
          <a:p>
            <a:r>
              <a:t>yard water equals one entire data-center 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[3:52–4:15]</a:t>
            </a:r>
          </a:p>
          <a:p>
            <a:r>
              <a:t>Who pays? Water districts first: they already spend on rebate outreach, and we hand them the</a:t>
            </a:r>
          </a:p>
          <a:p>
            <a:r>
              <a:t>lots with the most to save, proven with a metered pilot. Then data centers, which now need</a:t>
            </a:r>
          </a:p>
          <a:p>
            <a:r>
              <a:t>offsets: we're the verification layer that turns their money into real acre-feet. Homeowners are</a:t>
            </a:r>
          </a:p>
          <a:p>
            <a:r>
              <a:t>the distribution and the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[4:15–4:40]</a:t>
            </a:r>
          </a:p>
          <a:p>
            <a:r>
              <a:t>Ten thousand dollars takes it statewide: every Utah lot precomputed, a trained lawn model, a</a:t>
            </a:r>
          </a:p>
          <a:p>
            <a:r>
              <a:t>district pilot with real meter data, and integrations with the big smart controllers. It's</a:t>
            </a:r>
          </a:p>
          <a:p>
            <a:r>
              <a:t>already live, and the state's GIS team shared their data with us to validate it.</a:t>
            </a:r>
          </a:p>
          <a:p>
            <a:r>
              <a:t>(DRAFT split: Adam to confirm the dollar amounts and the outreach line before presenting.)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[4:40–5:00]</a:t>
            </a:r>
          </a:p>
          <a:p>
            <a:r>
              <a:t>So: ten thousand dollars to go statewide and run a district pilot, and introductions to a water</a:t>
            </a:r>
          </a:p>
          <a:p>
            <a:r>
              <a:t>district and a data-center sustainability team. And right now, take out your phone and type</a:t>
            </a:r>
          </a:p>
          <a:p>
            <a:r>
              <a:t>your address at overwater.ing.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Only if the live demo fails. Each following slide matches one demo step in 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1:10]</a:t>
            </a:r>
          </a:p>
          <a:p>
            <a:r>
              <a:t>Type 603 E South Temple and pick the first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1:20]</a:t>
            </a:r>
          </a:p>
          <a:p>
            <a:r>
              <a:t>11,141 sq ft of lawn on the Governor's Mansion lot, confidence high, about 29 inches and 200,000 gallons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1:45]</a:t>
            </a:r>
          </a:p>
          <a:p>
            <a:r>
              <a:t>Upload scripts/fixtures/sample_slc_bill.png. Claude reads twelve months; the page compares outdoor use to the lawn's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2:00]</a:t>
            </a:r>
          </a:p>
          <a:p>
            <a:r>
              <a:t>The single change with the most gallons saved, then the month-by-month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2:05]</a:t>
            </a:r>
          </a:p>
          <a:p>
            <a:r>
              <a:t>Deep and infrequent, split into short cycles so it soaks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2:15]</a:t>
            </a:r>
          </a:p>
          <a:p>
            <a:r>
              <a:t>PLACEHOLDER until the calendar ships: subscribe from the watering plan; the calendar follows the state's Weekly Lawn Watering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2:25]</a:t>
            </a:r>
          </a:p>
          <a:p>
            <a:r>
              <a:t>PLACEHOLDER until the OpenSprinkler connector ships: the guide says No Watering this week, so the controller pauses itself; switch to a July week and the minutes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2:35]</a:t>
            </a:r>
          </a:p>
          <a:p>
            <a:r>
              <a:t>About 145,000 gallons a year saved if this lawn becomes water-wise landscape.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2:45]</a:t>
            </a:r>
          </a:p>
          <a:p>
            <a:r>
              <a:t>Up to $33,423 from Central Utah Water Conservancy District, Salt Lake City, plus the $100 smart controller rebate.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2:55]</a:t>
            </a:r>
          </a:p>
          <a:p>
            <a:r>
              <a:t>Any Utah address is measured live in the browser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What a district sees: lawn, need, likely overwatering and savings for a whole neighborhood.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PLACEHOLDER until /impact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[reference]</a:t>
            </a:r>
          </a:p>
          <a:p>
            <a:r>
              <a:t>Sources for every number in the deck. Saved water can increase potential flows to the lake; it may be reused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822960"/>
            <a:ext cx="5669280" cy="4429125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5960" y="1298448"/>
            <a:ext cx="548640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12324A"/>
                </a:solidFill>
                <a:latin typeface="Fredoka"/>
              </a:rPr>
              <a:t>Overwater</a:t>
            </a:r>
            <a:r>
              <a:rPr sz="4600" b="1" i="0">
                <a:solidFill>
                  <a:srgbClr val="1F86D6"/>
                </a:solidFill>
                <a:latin typeface="Fredoka"/>
              </a:rPr>
              <a:t>.ing</a:t>
            </a:r>
            <a:r>
              <a:rPr sz="4600" b="1" i="0">
                <a:solidFill>
                  <a:srgbClr val="F0A92A"/>
                </a:solidFill>
                <a:latin typeface="Fredok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85216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2324A"/>
                </a:solidFill>
                <a:latin typeface="Fredoka"/>
              </a:rPr>
              <a:t>Is your lawn getting more water than it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5486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Every lawn in Utah, measured from the air. What it really needs, sent to the sprinkler controller.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Adam Fortuna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  ·  overwater.ing  ·  Nucleus × Startup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HOW I GOT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It started over a pint.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JULY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Perspectives Over Pints, Fisher Brewing.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The Yard Farmer gave the 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THAT NIGHT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Most of our water goes on grass.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And Utah will pay you to replace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NOVEMBER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Our own yard consult is booked.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So: how much lawn do I actually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7315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Nunito"/>
              </a:rPr>
              <a:t>Nobody could tell me. </a:t>
            </a:r>
            <a:r>
              <a:rPr sz="2400" b="0" i="0">
                <a:solidFill>
                  <a:srgbClr val="12324A"/>
                </a:solidFill>
                <a:latin typeface="Nunito"/>
              </a:rPr>
              <a:t>Not for my lot, and not for any lot in Utah.</a:t>
            </a:r>
          </a:p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526280"/>
            <a:ext cx="1463040" cy="1671523"/>
          </a:xfrm>
          <a:prstGeom prst="rect">
            <a:avLst/>
          </a:prstGeom>
        </p:spPr>
      </p:pic>
      <p:pic>
        <p:nvPicPr>
          <p:cNvPr id="18" name="Picture 17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166360"/>
            <a:ext cx="566928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Utah's water goes on the yard.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206240" cy="1341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800" b="1" i="0">
                <a:solidFill>
                  <a:srgbClr val="1F86D6"/>
                </a:solidFill>
                <a:latin typeface="Fredoka"/>
              </a:rPr>
              <a:t>~60%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98520"/>
            <a:ext cx="4206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12324A"/>
                </a:solidFill>
                <a:latin typeface="Nunito"/>
              </a:rPr>
              <a:t>of Utah's city water is used outdoors, mostly on grass.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011680"/>
            <a:ext cx="4206240" cy="1341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8800" b="1" i="0">
                <a:solidFill>
                  <a:srgbClr val="E5533F"/>
                </a:solidFill>
                <a:latin typeface="Fredoka"/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3398520"/>
            <a:ext cx="4206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12324A"/>
                </a:solidFill>
                <a:latin typeface="Nunito"/>
              </a:rPr>
              <a:t>of what cities use up is outdoor water. Indoor water goes back to the river.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92040"/>
            <a:ext cx="8229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F86D6"/>
                </a:solidFill>
                <a:latin typeface="Nunito"/>
              </a:rPr>
              <a:t>500,993 acre-feet a year </a:t>
            </a:r>
            <a:r>
              <a:rPr sz="2200" b="0" i="0">
                <a:solidFill>
                  <a:srgbClr val="12324A"/>
                </a:solidFill>
                <a:latin typeface="Nunito"/>
              </a:rPr>
              <a:t>on Utah's residential yards alone.</a:t>
            </a:r>
          </a:p>
        </p:txBody>
      </p:sp>
      <p:pic>
        <p:nvPicPr>
          <p:cNvPr id="9" name="Picture 8" descr="sprink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2148840"/>
            <a:ext cx="3017520" cy="2209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USU Extension citing Utah DWR (60%, 500,993 AF/yr, 2021 data); USU Institute for Land, Water &amp; Air, 2025 (96% of M&amp;I depletion); Utah DWR GSL Basin M&amp;I report, Aug 2025.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The lake is short. Now AI wants water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GREAT SALT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E5533F"/>
                </a:solidFill>
                <a:latin typeface="Fredoka"/>
              </a:rPr>
              <a:t>4,190.4 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47548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August 2026. The healthy range starts at 4,198 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4340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471,000–1,055,000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more acre-feet a year to get it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30352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UTAH'S AI BUILD-OUT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560320"/>
            <a:ext cx="21031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1F86D6"/>
                </a:solidFill>
                <a:latin typeface="Fredoka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697480"/>
            <a:ext cx="35661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data centers operating in Utah today.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657600"/>
            <a:ext cx="484632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Executive Order 2026-03: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new data centers may not add to the lake's depletion.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One proposed campus in Box Elder County: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~987 acre-feet a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Every new megawatt has to find its water somewhere. The biggest place to find it is the yard.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News Dispatch / USGS gauge (lake level); GSL Strategic Plan (inflow need); Utah Exec. Order 2026-03 (May 29, 2026); Deseret News, Aug 19 2026 (48 data centers); SL Tribune, Oct 20 2026 (Stratos project estimate, net depletion).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Utah pays to fix it. It can't see the yards.</a:t>
            </a:r>
          </a:p>
        </p:txBody>
      </p:sp>
      <p:pic>
        <p:nvPicPr>
          <p:cNvPr id="4" name="Picture 3" descr="c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114300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20574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800" b="1" i="0">
                <a:solidFill>
                  <a:srgbClr val="C27C00"/>
                </a:solidFill>
                <a:latin typeface="Fredoka"/>
              </a:rPr>
              <a:t>$1.50–$3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288036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per square foot of lawn you replace (Utah Water Savers).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86200"/>
            <a:ext cx="53035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12324A"/>
                </a:solidFill>
                <a:latin typeface="Nunito"/>
              </a:rPr>
              <a:t>~3 million sq ft converted in 2024, </a:t>
            </a:r>
            <a:r>
              <a:rPr sz="1900" b="0" i="0">
                <a:solidFill>
                  <a:srgbClr val="12324A"/>
                </a:solidFill>
                <a:latin typeface="Nunito"/>
              </a:rPr>
              <a:t>&gt;$7M paid.</a:t>
            </a:r>
          </a:p>
        </p:txBody>
      </p:sp>
      <p:pic>
        <p:nvPicPr>
          <p:cNvPr id="8" name="Picture 7" descr="sprinkler-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03120"/>
            <a:ext cx="1005840" cy="12573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20574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800" b="1" i="0">
                <a:solidFill>
                  <a:srgbClr val="E5533F"/>
                </a:solidFill>
                <a:latin typeface="Fredoka"/>
              </a:rPr>
              <a:t>About half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880360"/>
            <a:ext cx="384048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of Utahns overwater (BYU, aerial imagery + water bills).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800600"/>
            <a:ext cx="10835640" cy="1143000"/>
          </a:xfrm>
          <a:prstGeom prst="roundRect">
            <a:avLst>
              <a:gd name="adj" fmla="val 15000"/>
            </a:avLst>
          </a:prstGeom>
          <a:solidFill>
            <a:srgbClr val="DF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0120" y="4846320"/>
            <a:ext cx="10332720" cy="10515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But nobody knows, lot by lot, how much lawn there is or how much water it really needs.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Water Savers program rates (checked Oct 27 2026); Utah DWR turf buyback results 2024; Sowby et al., BYU 2022.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LIVE DEMO · OVERWATER.ING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Type any Utah address.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82112" y="1810511"/>
            <a:ext cx="7223759" cy="456285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874519"/>
            <a:ext cx="7095744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965960"/>
            <a:ext cx="2377440" cy="4206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1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Find the lawn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2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What it needs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3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Read the bill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4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Watering plan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5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The controller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6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Go native</a:t>
            </a:r>
          </a:p>
          <a:p>
            <a:pPr algn="l">
              <a:spcAft>
                <a:spcPts val="1200"/>
              </a:spcAft>
            </a:pPr>
            <a:r>
              <a:rPr sz="1900" b="1" i="0">
                <a:solidFill>
                  <a:srgbClr val="1F86D6"/>
                </a:solidFill>
                <a:latin typeface="Fredoka"/>
              </a:rPr>
              <a:t>7</a:t>
            </a:r>
            <a:r>
              <a:rPr sz="1900" b="1" i="0">
                <a:solidFill>
                  <a:srgbClr val="12324A"/>
                </a:solidFill>
                <a:latin typeface="Nunito"/>
              </a:rPr>
              <a:t>  The rebate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Live, statewide, and checked against the state.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F86D6"/>
                </a:solidFill>
                <a:latin typeface="Fredoka"/>
              </a:rPr>
              <a:t>12,791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lots precomputed in six Salt Lake City and Sandy neighborhoods: 319 acres of lawn.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6344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2C9A4B"/>
                </a:solidFill>
                <a:latin typeface="Fredoka"/>
              </a:rPr>
              <a:t>29 /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 counties searchable. Any other address is measured live in the browser.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057400"/>
            <a:ext cx="3429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66760" y="228600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E5533F"/>
                </a:solidFill>
                <a:latin typeface="Fredoka"/>
              </a:rPr>
              <a:t>r = 0.77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337560"/>
            <a:ext cx="292608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per-lot agreement with the state's Greenspace model (3,104 lots, median ratio 0.97).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57800"/>
            <a:ext cx="10789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Built on real data: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USDA aerial imagery, county parcels, Meta tree heights, gridMET weather, Utah Water Savers rebates, and Claude reading real bills.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Greenspace comparison: Utah DWRe Greenspace 2024 (NDVI ≥ 0.15) vs. our lawn + tree canopy for ZIP 84102: 189.2 vs 170.2 acres. Data shared by Jack Hinzman, Senior GIS Analyst, DWRe. Method: RESULTS.md, Run 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HARD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From satellite pixels to the sprinkler valve.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7400"/>
            <a:ext cx="1280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F86D6"/>
                </a:solidFill>
                <a:latin typeface="Nunito"/>
              </a:rPr>
              <a:t>SEE THE LAWN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48840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221992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NAIP aerial imagery, 60 cm, 4 bands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34993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81881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155033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Haze-corrected NDVI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68035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14923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88075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Meta LiDAR-derived tree heights (COG range reads)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01076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47964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21116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Building footprints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34118" y="2286000"/>
            <a:ext cx="201168" cy="182880"/>
          </a:xfrm>
          <a:prstGeom prst="rightArrow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81006" y="187451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954158" y="192023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Turf polygons per 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383280"/>
            <a:ext cx="1280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9A4B"/>
                </a:solidFill>
                <a:latin typeface="Nunito"/>
              </a:rPr>
              <a:t>KNOW THE NEED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48840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221992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gridMET reference ET, every county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318253" y="3611880"/>
            <a:ext cx="201168" cy="182880"/>
          </a:xfrm>
          <a:prstGeom prst="rightArrow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65142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638294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FAO-56 turf water need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734555" y="3611880"/>
            <a:ext cx="201168" cy="182880"/>
          </a:xfrm>
          <a:prstGeom prst="rightArrow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81444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054596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State Weekly Lawn Watering Guide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0858" y="3611880"/>
            <a:ext cx="201168" cy="182880"/>
          </a:xfrm>
          <a:prstGeom prst="rightArrow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97745" y="3200400"/>
            <a:ext cx="2123694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2C9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470897" y="3246120"/>
            <a:ext cx="197738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Month-by-month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709159"/>
            <a:ext cx="12801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CLOSE THE LOOP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48840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221992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Open API + watering calendar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3834993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081881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155033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Sprinkler controller (OpenSprinkler now, Rachio next)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768035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14923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088075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Claude reads water bills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7701076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947964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021116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Your corrections = labels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634118" y="4937759"/>
            <a:ext cx="201168" cy="182880"/>
          </a:xfrm>
          <a:prstGeom prst="rightArrow">
            <a:avLst/>
          </a:prstGeom>
          <a:solidFill>
            <a:srgbClr val="E55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81006" y="4526279"/>
            <a:ext cx="1640433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E55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954158" y="4571999"/>
            <a:ext cx="1494129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2324A"/>
                </a:solidFill>
                <a:latin typeface="Nunito"/>
              </a:rPr>
              <a:t>Trained lawn segmentation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852160"/>
            <a:ext cx="107899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Runs in the browser and on Cloudflare's edge. 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No GIS desktop, no per-lot cost: a new address is measured in seconds.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IT'S AN ENERGY AND AI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Saved water is saved power, and AI headroom.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34290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33172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F86D6"/>
                </a:solidFill>
                <a:latin typeface="Fredoka"/>
              </a:rPr>
              <a:t>650 kWh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83280"/>
            <a:ext cx="292608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to treat and deliver one acre-foot of water.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103120"/>
            <a:ext cx="34290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63440" y="233172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E5533F"/>
                </a:solidFill>
                <a:latin typeface="Fredoka"/>
              </a:rPr>
              <a:t>~390 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383280"/>
            <a:ext cx="292608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of CO₂ per acre-foot on Utah's grid (0.60 kg/kWh).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103120"/>
            <a:ext cx="34290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66760" y="2331720"/>
            <a:ext cx="292608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2C9A4B"/>
                </a:solidFill>
                <a:latin typeface="Fredoka"/>
              </a:rPr>
              <a:t>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383280"/>
            <a:ext cx="292608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of Utah's residential outdoor water equals one ~987 AF/yr data-center campus.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29200"/>
            <a:ext cx="10789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Per home it's small (~30 kWh a year).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At district and state scale, verified yard savings are how Utah grows AI without draining the lake.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EPRI via ACEEE 2009 (650 kWh/AF, range 260–880); EIA Utah profile 2024 (1,322 lb CO₂/MWh); USU Extension citing DWR (500,993 AF/yr); SL Tribune Oct 20 2026 (Stratos estimate). Saved water can increase potential flows to the lake; it may be reused upstream.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PATH TO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Three customers, in order.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342900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prinkler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48840"/>
            <a:ext cx="636729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2148840"/>
            <a:ext cx="21945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86D6"/>
                </a:solidFill>
                <a:latin typeface="Fredok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51760"/>
            <a:ext cx="23774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Water districts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292608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12324A"/>
                </a:solidFill>
                <a:latin typeface="Nunito"/>
              </a:rPr>
              <a:t>They already spend on rebate outreach. We hand them a ranked list of the lots with the most lawn to replace and the biggest savings.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440680"/>
            <a:ext cx="29260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F86D6"/>
                </a:solidFill>
                <a:latin typeface="Nunito"/>
              </a:rPr>
              <a:t>Pilot: one district, metered before and after.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65960"/>
            <a:ext cx="342900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148840"/>
            <a:ext cx="57912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63440" y="2148840"/>
            <a:ext cx="21945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86D6"/>
                </a:solidFill>
                <a:latin typeface="Fredok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3774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Data centers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200400"/>
            <a:ext cx="292608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12324A"/>
                </a:solidFill>
                <a:latin typeface="Nunito"/>
              </a:rPr>
              <a:t>EO 2026-03 means new campuses need offsets. We're the lot-by-lot measurement, reporting and verification layer that turns their money into verified acre-feet.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440680"/>
            <a:ext cx="29260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F86D6"/>
                </a:solidFill>
                <a:latin typeface="Nunito"/>
              </a:rPr>
              <a:t>Turf conversions + controller schedules.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965960"/>
            <a:ext cx="342900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2148840"/>
            <a:ext cx="760333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2148840"/>
            <a:ext cx="21945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86D6"/>
                </a:solidFill>
                <a:latin typeface="Fredok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23774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Homeowners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200400"/>
            <a:ext cx="292608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12324A"/>
                </a:solidFill>
                <a:latin typeface="Nunito"/>
              </a:rPr>
              <a:t>They're the distribution and the ground truth. Every correction they make is a label.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5440680"/>
            <a:ext cx="29260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F86D6"/>
                </a:solidFill>
                <a:latin typeface="Nunito"/>
              </a:rPr>
              <a:t>Never ranked, never shared.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Districts already named on the site: Central Utah, Jordan Valley, Weber Basin, Washington County, and the statewide program.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What $10K unlocks.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86D6"/>
                </a:solidFill>
                <a:latin typeface="Fredoka"/>
              </a:rPr>
              <a:t>$3,000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1920240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Every Utah lot, precomputed and 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2C9A4B"/>
                </a:solidFill>
                <a:latin typeface="Fredoka"/>
              </a:rPr>
              <a:t>$3,000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788920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Train the lawn segmentation model on app labels + the state's Greenspace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57600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E5533F"/>
                </a:solidFill>
                <a:latin typeface="Fredoka"/>
              </a:rPr>
              <a:t>$2,500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3657600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A district pilot with real meter data, before and 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26279"/>
            <a:ext cx="18288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C27C00"/>
                </a:solidFill>
                <a:latin typeface="Fredoka"/>
              </a:rPr>
              <a:t>$1,500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4526279"/>
            <a:ext cx="457200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Controller integrations: Rachio and Hydrawise partner 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1920240"/>
            <a:ext cx="3977639" cy="4023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818120" y="2103120"/>
            <a:ext cx="3474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ALREADY IN MOTION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560320"/>
            <a:ext cx="3474720" cy="3291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Live at overwater.ing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, any Utah address.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Utah DWRe GIS 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shared the state's Greenspace model; we validated against it.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5533F"/>
                </a:solidFill>
                <a:latin typeface="Nunito"/>
              </a:rPr>
              <a:t>[Confirm with Adam] 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Outreach to districts and controller makers going out this week.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2855"/>
            <a:ext cx="12191695" cy="22351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7498079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800" b="1" i="0">
                <a:solidFill>
                  <a:srgbClr val="12324A"/>
                </a:solidFill>
                <a:latin typeface="Fredoka"/>
              </a:rPr>
              <a:t>Type your address at overwater.ing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731520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$10K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go statewide and run the first district pilot.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Intros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a water district's conservation team and a data-center sustainability lead.</a:t>
            </a:r>
          </a:p>
        </p:txBody>
      </p:sp>
      <p:pic>
        <p:nvPicPr>
          <p:cNvPr id="6" name="Picture 5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77724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5400" y="3200400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Fredoka"/>
              </a:rPr>
              <a:t>overwater.ing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12324A"/>
                </a:solidFill>
                <a:latin typeface="Fredoka"/>
              </a:rPr>
              <a:t>Backup: the demo,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29000"/>
            <a:ext cx="107899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If the Wi-Fi fails, click through these instead. Same order as the live demo.</a:t>
            </a:r>
          </a:p>
        </p:txBody>
      </p:sp>
      <p:pic>
        <p:nvPicPr>
          <p:cNvPr id="4" name="Picture 3" descr="sprinkler-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06240"/>
            <a:ext cx="128016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1 · Any Utah address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2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Search covers parcels in all 29 counties.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2 · The lawn, from the air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2024 USDA imagery at 0.6 m. Green = lawn, dark green = trees, red = buildings. Tap a shape to correct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Claude reads the bill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4-bill-r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Twelve months of usage from a photo of the bill, in a few seconds.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One thing to do, and how much it saves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Spray heads + a basic timer, Salt Lake City weather.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schedule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Days a week and cycle-and-soak minutes per zone, from local reference 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5 · Subscribe to the watering calendar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8519" y="1188720"/>
            <a:ext cx="7534656" cy="470916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 w="25400">
            <a:solidFill>
              <a:srgbClr val="E553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2839" y="1463040"/>
            <a:ext cx="6986016" cy="4160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PLACEHOLDER</a:t>
            </a:r>
          </a:p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Watering calendar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Screenshot of the subscribe button and a week in Google Calendar, once the calendar feature lands.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6 · The controller follows the state guide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8519" y="1188720"/>
            <a:ext cx="7534656" cy="470916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 w="25400">
            <a:solidFill>
              <a:srgbClr val="E553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2839" y="1463040"/>
            <a:ext cx="6986016" cy="4160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PLACEHOLDER</a:t>
            </a:r>
          </a:p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OpenSprinkler, demo firmware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Before/after: 'No Watering' week paused, July week with minutes per zone. Lands with connect/.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7 · Go native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7-na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Before and after for this lot, then the plants and designers.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8 · The rebate, and who's in charge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8-reb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City, water provider, wholesale districts and program for this exact lot.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9 · Any address, measured live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8519" y="1188720"/>
            <a:ext cx="7534656" cy="470916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 w="25400">
            <a:solidFill>
              <a:srgbClr val="E553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2839" y="1463040"/>
            <a:ext cx="6986016" cy="4160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PLACEHOLDER</a:t>
            </a:r>
          </a:p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Live lot outside Salt Lake County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Screenshot pending: the statewide imagery proxy was failing when this deck was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Outside Salt Lake County, computed in the browser.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Neighborhood view for districts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1-district-avenu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Totals only, never household rankings.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/impact: statewide, energy and data centers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8519" y="1188720"/>
            <a:ext cx="7534656" cy="470916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 w="25400">
            <a:solidFill>
              <a:srgbClr val="E553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2839" y="1463040"/>
            <a:ext cx="6986016" cy="4160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5533F"/>
                </a:solidFill>
                <a:latin typeface="Nunito"/>
              </a:rPr>
              <a:t>PLACEHOLDER</a:t>
            </a:r>
          </a:p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12324A"/>
                </a:solidFill>
                <a:latin typeface="Fredoka"/>
              </a:rPr>
              <a:t>/impact page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Statewide totals, energy and data-center framing. Lands with /impact.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5394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~60% of Utah M&amp;I water used outdoors; 500,993 AF/yr residential outdoor: USU Extension citing Utah DWR, extension.usu.edu/climate/research/water-wise-policies-and-programs-utah; DWR GSL Basin M&amp;I report, Aug 2025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96% of M&amp;I depletion is outdoor: USU Institute for Land, Water &amp; Air, 2025, usu.edu/ilwa/reports/2025/utahs-future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About half of Utahns overwater: Sowby, BYU 2022 (aerial imagery + bills)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Great Salt Lake 4,190.4 ft (Aug 2026), healthy range from 4,198 ft: Utah News Dispatch; wre-rapps.utah.gov/GSLApp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471,000–1,055,000 AF/yr more inflow: Great Salt Lake Strategic Plan, greatsaltlake.utah.gov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Data centers may not add GSL depletion: Utah Executive Order 2026-03 (May 29, 2026); reporting ≥75 AF/yr: HB 76 (2026)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48 Utah data centers: Deseret News, Aug 19 2026. Stratos ~987 AF/yr net depletion (project estimate): SL Tribune, Oct 20 2026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Smart controllers save up to 15,000 gal/home/yr: EPA WaterSense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~650 kWh per acre-foot to treat and deliver (260–880): EPRI via ACEEE 2009. Utah grid 0.60 kg CO₂/kWh: EIA 2024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~3M sq ft converted in 2024, &gt;$7M paid: Utah DWR turf buyback results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Our numbers: 12,791 lots, 319 acres of lawn; Greenspace r = 0.77, median ratio 0.97 (84102, 3,104 lots): RESULTS.md Runs 6–7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