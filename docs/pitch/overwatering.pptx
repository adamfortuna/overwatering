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[0:00–0:05]</a:t>
            </a:r>
          </a:p>
          <a:p>
            <a:r>
              <a:t>Hi, I'm Adam Fortuna. This is Overwater.ing. Question mark.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[0:05–0:30]</a:t>
            </a:r>
          </a:p>
          <a:p>
            <a:r>
              <a:t>In July I went to Perspectives Over Pints at Fisher Brewing, and The Yard Farmer gave the talk.</a:t>
            </a:r>
          </a:p>
          <a:p>
            <a:r>
              <a:t>That's where I learned about Utah Water Savers: the state will pay you up to three dollars a</a:t>
            </a:r>
          </a:p>
          <a:p>
            <a:r>
              <a:t>square foot to replace your grass. We booked our own yard consult for November. But my first</a:t>
            </a:r>
          </a:p>
          <a:p>
            <a:r>
              <a:t>question was: how much lawn do I have, and what does it really need? Nobody could tell 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[0:30–0:45]</a:t>
            </a:r>
          </a:p>
          <a:p>
            <a:r>
              <a:t>Here's all of Utah's water. Most goes to farms. About a sixth runs through our cities, and the</a:t>
            </a:r>
          </a:p>
          <a:p>
            <a:r>
              <a:t>biggest share of that is home yards: half a million acre-feet a year. Enough to raise Great Salt</a:t>
            </a:r>
          </a:p>
          <a:p>
            <a:r>
              <a:t>Lake about ten inches.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[0:45–1:10]</a:t>
            </a:r>
          </a:p>
          <a:p>
            <a:r>
              <a:t>Great Salt Lake is eight feet below healthy. Water we save on yards can flow to the lake. And</a:t>
            </a:r>
          </a:p>
          <a:p>
            <a:r>
              <a:t>since May, new data centers can't add to its depletion, so the AI build-out can't take it.</a:t>
            </a:r>
          </a:p>
          <a:p>
            <a:r>
              <a:t>But nobody knows, lot by lot, how much lawn there is or what it really needs. So I built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[1:10–3:10]</a:t>
            </a:r>
          </a:p>
          <a:p>
            <a:r>
              <a:t>(Switch to the browser. Full click path and fallbacks are in demo.md.)</a:t>
            </a:r>
          </a:p>
          <a:p>
            <a:r>
              <a:t>1:10 Type "603 E South Temple", the Governor's Mansion. Pick it.</a:t>
            </a:r>
          </a:p>
          <a:p>
            <a:r>
              <a:t>1:20 The 2024 aerial photo. Green is lawn, dark green is trees, red is buildings: 6,828 square</a:t>
            </a:r>
          </a:p>
          <a:p>
            <a:r>
              <a:t>feet of lawn. That outline comes from 60-centimeter infrared aerial photos, minus the trees from</a:t>
            </a:r>
          </a:p>
          <a:p>
            <a:r>
              <a:t>laser-scanned tree heights, minus the roofs, computed right in your browser. If we got a shape</a:t>
            </a:r>
          </a:p>
          <a:p>
            <a:r>
              <a:t>wrong, tap it, and that correction trains the model. (Tap one, then tap it back to green.)</a:t>
            </a:r>
          </a:p>
          <a:p>
            <a:r>
              <a:t>1:40 Go native: about 89,000 gallons a year saved. And Utah pays up to $20,484 here,</a:t>
            </a:r>
          </a:p>
          <a:p>
            <a:r>
              <a:t>from Central Utah Water Conservancy District. It knows the city, the water system and the program.</a:t>
            </a:r>
          </a:p>
          <a:p>
            <a:r>
              <a:t>1:55 What going native looks like: the before and after, the plants, the designers to call.</a:t>
            </a:r>
          </a:p>
          <a:p>
            <a:r>
              <a:t>2:05 Or lower your water use today: pick spray heads and a basic timer. One thing to change, and a</a:t>
            </a:r>
          </a:p>
          <a:p>
            <a:r>
              <a:t>month-by-month schedule for this county.</a:t>
            </a:r>
          </a:p>
          <a:p>
            <a:r>
              <a:t>2:20 Subscribe to it as a calendar, or send it to the controller. This is OpenSprinkler's real</a:t>
            </a:r>
          </a:p>
          <a:p>
            <a:r>
              <a:t>firmware: when the state says skip, it switches itself off. In July: Monday, Wednesday, Friday at</a:t>
            </a:r>
          </a:p>
          <a:p>
            <a:r>
              <a:t>5 a.m., four short cycles a zone.</a:t>
            </a:r>
          </a:p>
          <a:p>
            <a:r>
              <a:t>2:50 (Only if the warm-up worked.) Any address in Utah is measured live, like this one in St. George.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[3:10–3:45]</a:t>
            </a:r>
          </a:p>
          <a:p>
            <a:r>
              <a:t>Phase one is live today: your rebate estimate, a watering schedule, and connectors for</a:t>
            </a:r>
          </a:p>
          <a:p>
            <a:r>
              <a:t>OpenSprinkler, Rachio and Home Assistant. Ten</a:t>
            </a:r>
          </a:p>
          <a:p>
            <a:r>
              <a:t>thousand dollars funds phase two: a pilot that manages real sprinklers remotely, more sprinkler</a:t>
            </a:r>
          </a:p>
          <a:p>
            <a:r>
              <a:t>systems, moisture sensors, and sitting down with each of Utah's water-wise partners to see what's</a:t>
            </a:r>
          </a:p>
          <a:p>
            <a:r>
              <a:t>already in progress. Phase three is with the state: drone scans a few times a week, so each</a:t>
            </a:r>
          </a:p>
          <a:p>
            <a:r>
              <a:t>sprinkler head waters only the patch that needs it, and the state can spot overwatering from</a:t>
            </a:r>
          </a:p>
          <a:p>
            <a:r>
              <a:t>the air before a bill ever shows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[3:45–4:05]</a:t>
            </a:r>
          </a:p>
          <a:p>
            <a:r>
              <a:t>So here's the ask: ten thousand dollars for phase two, a pilot that runs real sprinklers. And</a:t>
            </a:r>
          </a:p>
          <a:p>
            <a:r>
              <a:t>introductions: to Utah's water-wise partners, to a district's conservation team, and to drone</a:t>
            </a:r>
          </a:p>
          <a:p>
            <a:r>
              <a:t>training academies that could fly LiDAR scans with us. And right now, take out your phone and</a:t>
            </a:r>
          </a:p>
          <a:p>
            <a:r>
              <a:t>type your address at overwater.ing. Thank you.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[backup]</a:t>
            </a:r>
          </a:p>
          <a:p>
            <a:r>
              <a:t>Only if the live demo fails. Each following slide matches one demo step in demo.md.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[demo 1:10]</a:t>
            </a:r>
          </a:p>
          <a:p>
            <a:r>
              <a:t>Type 603 E South Temple and pick the first result.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[demo 1:20]</a:t>
            </a:r>
          </a:p>
          <a:p>
            <a:r>
              <a:t>6,828 sq ft of lawn on the Governor's Mansion lot, about 29 inches and 124,000 gallons a year.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[demo 1:55]</a:t>
            </a:r>
          </a:p>
          <a:p>
            <a:r>
              <a:t>The before and after for this lot.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[demo 1:40]</a:t>
            </a:r>
          </a:p>
          <a:p>
            <a:r>
              <a:t>The city, the water system and the program for this lot, plus the $100 smart controller rebate.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[demo 2:05]</a:t>
            </a:r>
          </a:p>
          <a:p>
            <a:r>
              <a:t>The single change with the most gallons saved, then the month-by-month schedule.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[demo 2:10]</a:t>
            </a:r>
          </a:p>
          <a:p>
            <a:r>
              <a:t>Deep and infrequent, split into short cycles so it soaks 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[demo 2:20]</a:t>
            </a:r>
          </a:p>
          <a:p>
            <a:r>
              <a:t>Subscribe once; each watering day shows up at 5 a.m. with run times.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[demo 2:25]</a:t>
            </a:r>
          </a:p>
          <a:p>
            <a:r>
              <a:t>OpenSprinkler firmware in demo mode, set by our connector. When the guide says no watering, the program is switched</a:t>
            </a:r>
          </a:p>
          <a:p>
            <a:r>
              <a:t>off. Preview a July week and it's Monday, Wednesday, Friday at 5 a.m., four 7-minute cycles per zone.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[demo 2:30]</a:t>
            </a:r>
          </a:p>
          <a:p>
            <a:r>
              <a:t>Rachio and Home Assistant cover most smart controllers sold in Utah; OpenSprinkler is the open-hardware path.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[optional]</a:t>
            </a:r>
          </a:p>
          <a:p>
            <a:r>
              <a:t>Upload the sample bill. Claude reads twelve months; the page shows the overwatering gap.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[demo 2:50]</a:t>
            </a:r>
          </a:p>
          <a:p>
            <a:r>
              <a:t>Any Utah address is measured live in the browser in seconds.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[backup]</a:t>
            </a:r>
          </a:p>
          <a:p>
            <a:r>
              <a:t>What a district sees: lawn, need, likely overwatering and savings for a whole neighborhood.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[backup]</a:t>
            </a:r>
          </a:p>
          <a:p>
            <a:r>
              <a:t>Utah-scale numbers, live on the site.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[reference]</a:t>
            </a:r>
          </a:p>
          <a:p>
            <a:r>
              <a:t>Sources for every number in the deck. Saved water can increase potential flows to the lake; it may be reused upstream.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image" Target="../media/image7.jpg"/><Relationship Id="rId4" Type="http://schemas.openxmlformats.org/officeDocument/2006/relationships/image" Target="../media/image8.jpg"/><Relationship Id="rId5" Type="http://schemas.openxmlformats.org/officeDocument/2006/relationships/image" Target="../media/image9.png"/><Relationship Id="rId6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Relationship Id="rId3" Type="http://schemas.openxmlformats.org/officeDocument/2006/relationships/image" Target="../media/image6.jpg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Relationship Id="rId3" Type="http://schemas.openxmlformats.org/officeDocument/2006/relationships/image" Target="../media/image18.jpg"/><Relationship Id="rId4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Relationship Id="rId3" Type="http://schemas.openxmlformats.org/officeDocument/2006/relationships/image" Target="../media/image8.jpg"/><Relationship Id="rId4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jpg"/><Relationship Id="rId3" Type="http://schemas.openxmlformats.org/officeDocument/2006/relationships/image" Target="../media/image21.jpg"/><Relationship Id="rId4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jpg"/><Relationship Id="rId3" Type="http://schemas.openxmlformats.org/officeDocument/2006/relationships/image" Target="../media/image23.jpg"/><Relationship Id="rId4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jp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jp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jpg"/><Relationship Id="rId3" Type="http://schemas.openxmlformats.org/officeDocument/2006/relationships/image" Target="../media/image27.jpg"/><Relationship Id="rId4" Type="http://schemas.openxmlformats.org/officeDocument/2006/relationships/image" Target="../media/image28.jpg"/><Relationship Id="rId5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jp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jpg"/><Relationship Id="rId3" Type="http://schemas.openxmlformats.org/officeDocument/2006/relationships/image" Target="../media/image31.jpg"/><Relationship Id="rId4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jpg"/><Relationship Id="rId3" Type="http://schemas.openxmlformats.org/officeDocument/2006/relationships/image" Target="../media/image33.jpg"/><Relationship Id="rId4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jp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jp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8FE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cene-he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822960"/>
            <a:ext cx="5669280" cy="4429125"/>
          </a:xfrm>
          <a:prstGeom prst="rect">
            <a:avLst/>
          </a:prstGeom>
        </p:spPr>
      </p:pic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051560"/>
            <a:ext cx="1188720" cy="11887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965960" y="1298448"/>
            <a:ext cx="5486400" cy="841248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4600" b="1" i="0">
                <a:solidFill>
                  <a:srgbClr val="12324A"/>
                </a:solidFill>
                <a:latin typeface="Fredoka"/>
              </a:rPr>
              <a:t>Overwater</a:t>
            </a:r>
            <a:r>
              <a:rPr sz="4600" b="1" i="0">
                <a:solidFill>
                  <a:srgbClr val="1F86D6"/>
                </a:solidFill>
                <a:latin typeface="Fredoka"/>
              </a:rPr>
              <a:t>.ing</a:t>
            </a:r>
            <a:r>
              <a:rPr sz="4600" b="1" i="0">
                <a:solidFill>
                  <a:srgbClr val="F0A92A"/>
                </a:solidFill>
                <a:latin typeface="Fredoka"/>
              </a:rPr>
              <a:t>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606040"/>
            <a:ext cx="5852160" cy="18288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400" b="1" i="0">
                <a:solidFill>
                  <a:srgbClr val="12324A"/>
                </a:solidFill>
                <a:latin typeface="Fredoka"/>
              </a:rPr>
              <a:t>Is your lawn getting more water than it needs?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160520"/>
            <a:ext cx="5486400" cy="10972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000" b="0" i="0">
                <a:solidFill>
                  <a:srgbClr val="4F6B80"/>
                </a:solidFill>
                <a:latin typeface="Nunito"/>
              </a:rPr>
              <a:t>Every lawn in Utah, measured from the air. What it really needs, sent to the sprinkler controller.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5715000"/>
            <a:ext cx="585216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1600" b="1" i="0">
                <a:solidFill>
                  <a:srgbClr val="12324A"/>
                </a:solidFill>
                <a:latin typeface="Nunito"/>
              </a:rPr>
              <a:t>Adam Fortuna</a:t>
            </a:r>
            <a:r>
              <a:rPr sz="1600" b="0" i="0">
                <a:solidFill>
                  <a:srgbClr val="12324A"/>
                </a:solidFill>
                <a:latin typeface="Nunito"/>
              </a:rPr>
              <a:t>  ·  overwater.ing  ·  Nucleus × Startup State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8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822960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1F86D6"/>
                </a:solidFill>
                <a:latin typeface="Nunito"/>
              </a:rPr>
              <a:t>HOW I GOT HERE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22960"/>
            <a:ext cx="10789920" cy="9144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4000" b="1" i="0">
                <a:solidFill>
                  <a:srgbClr val="12324A"/>
                </a:solidFill>
                <a:latin typeface="Fredoka"/>
              </a:rPr>
              <a:t>It started over a pint.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2011680"/>
            <a:ext cx="3429000" cy="26060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5400">
            <a:solidFill>
              <a:srgbClr val="CFE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960120" y="2194560"/>
            <a:ext cx="2926080" cy="4114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1F86D6"/>
                </a:solidFill>
                <a:latin typeface="Nunito"/>
              </a:rPr>
              <a:t>JULY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" y="2606040"/>
            <a:ext cx="2926080" cy="10972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100" b="1" i="0">
                <a:solidFill>
                  <a:srgbClr val="12324A"/>
                </a:solidFill>
                <a:latin typeface="Fredoka"/>
              </a:rPr>
              <a:t>Perspectives Over Pints, Fisher Brewing.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3749039"/>
            <a:ext cx="2926080" cy="7772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700" b="0" i="0">
                <a:solidFill>
                  <a:srgbClr val="4F6B80"/>
                </a:solidFill>
                <a:latin typeface="Nunito"/>
              </a:rPr>
              <a:t>The Yard Farmer gave the talk.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2011680"/>
            <a:ext cx="3429000" cy="26060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5400">
            <a:solidFill>
              <a:srgbClr val="CFE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4663440" y="2194560"/>
            <a:ext cx="2926080" cy="4114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1F86D6"/>
                </a:solidFill>
                <a:latin typeface="Nunito"/>
              </a:rPr>
              <a:t>WHAT I LEARNED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63440" y="2606040"/>
            <a:ext cx="2926080" cy="10972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100" b="1" i="0">
                <a:solidFill>
                  <a:srgbClr val="12324A"/>
                </a:solidFill>
                <a:latin typeface="Fredoka"/>
              </a:rPr>
              <a:t>Utah pays you to replace your grass.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3749039"/>
            <a:ext cx="2926080" cy="7772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700" b="0" i="0">
                <a:solidFill>
                  <a:srgbClr val="4F6B80"/>
                </a:solidFill>
                <a:latin typeface="Nunito"/>
              </a:rPr>
              <a:t>Utah Water Savers: $1.50–$3 per square foot.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92440" y="2011680"/>
            <a:ext cx="3429000" cy="26060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5400">
            <a:solidFill>
              <a:srgbClr val="CFE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366760" y="2194560"/>
            <a:ext cx="2926080" cy="4114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1F86D6"/>
                </a:solidFill>
                <a:latin typeface="Nunito"/>
              </a:rPr>
              <a:t>NOVEMBER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66760" y="2606040"/>
            <a:ext cx="2926080" cy="10972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100" b="1" i="0">
                <a:solidFill>
                  <a:srgbClr val="12324A"/>
                </a:solidFill>
                <a:latin typeface="Fredoka"/>
              </a:rPr>
              <a:t>Our own yard consult is booked.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66760" y="3749039"/>
            <a:ext cx="2926080" cy="7772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700" b="0" i="0">
                <a:solidFill>
                  <a:srgbClr val="4F6B80"/>
                </a:solidFill>
                <a:latin typeface="Nunito"/>
              </a:rPr>
              <a:t>So: how much lawn do I actually have?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4846320"/>
            <a:ext cx="7315200" cy="10972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400" b="1" i="0">
                <a:solidFill>
                  <a:srgbClr val="12324A"/>
                </a:solidFill>
                <a:latin typeface="Nunito"/>
              </a:rPr>
              <a:t>Nobody could tell me. </a:t>
            </a:r>
            <a:r>
              <a:rPr sz="2400" b="0" i="0">
                <a:solidFill>
                  <a:srgbClr val="12324A"/>
                </a:solidFill>
                <a:latin typeface="Nunito"/>
              </a:rPr>
              <a:t>Not for my lot, and not for any lot in Utah.</a:t>
            </a:r>
          </a:p>
        </p:txBody>
      </p:sp>
      <p:pic>
        <p:nvPicPr>
          <p:cNvPr id="17" name="Picture 16" descr="gra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66960" y="4526280"/>
            <a:ext cx="1463040" cy="1671523"/>
          </a:xfrm>
          <a:prstGeom prst="rect">
            <a:avLst/>
          </a:prstGeom>
        </p:spPr>
      </p:pic>
      <p:pic>
        <p:nvPicPr>
          <p:cNvPr id="18" name="Picture 17" descr="dr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26880" y="5166360"/>
            <a:ext cx="566928" cy="850392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8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822960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1F86D6"/>
                </a:solidFill>
                <a:latin typeface="Nunito"/>
              </a:rP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22960"/>
            <a:ext cx="10789920" cy="9144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4000" b="1" i="0">
                <a:solidFill>
                  <a:srgbClr val="12324A"/>
                </a:solidFill>
                <a:latin typeface="Fredoka"/>
              </a:rPr>
              <a:t>Where Utah's water goes.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764792"/>
            <a:ext cx="512064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2324A"/>
                </a:solidFill>
                <a:latin typeface="Nunito"/>
              </a:rPr>
              <a:t>All of Utah's water: ~4.7M acre-feet a year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2148840"/>
            <a:ext cx="7721147" cy="731520"/>
          </a:xfrm>
          <a:prstGeom prst="rect">
            <a:avLst/>
          </a:prstGeom>
          <a:solidFill>
            <a:srgbClr val="E6C5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795528" y="2148840"/>
            <a:ext cx="7574843" cy="73152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2324A"/>
                </a:solidFill>
                <a:latin typeface="Nunito"/>
              </a:rPr>
              <a:t>Farms</a:t>
            </a:r>
            <a:r>
              <a:rPr sz="1500" b="0" i="0">
                <a:solidFill>
                  <a:srgbClr val="12324A"/>
                </a:solidFill>
                <a:latin typeface="Nunito"/>
              </a:rPr>
              <a:t>  72%</a:t>
            </a:r>
          </a:p>
        </p:txBody>
      </p:sp>
      <p:sp>
        <p:nvSpPr>
          <p:cNvPr id="7" name="Rectangle 6"/>
          <p:cNvSpPr/>
          <p:nvPr/>
        </p:nvSpPr>
        <p:spPr>
          <a:xfrm>
            <a:off x="8443523" y="2148840"/>
            <a:ext cx="1597351" cy="731520"/>
          </a:xfrm>
          <a:prstGeom prst="rect">
            <a:avLst/>
          </a:prstGeom>
          <a:solidFill>
            <a:srgbClr val="1F8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553251" y="2148840"/>
            <a:ext cx="1451047" cy="73152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Nunito"/>
              </a:rPr>
              <a:t>Cities &amp; towns</a:t>
            </a:r>
            <a:r>
              <a:rPr sz="1500" b="0" i="0">
                <a:solidFill>
                  <a:srgbClr val="FFFFFF"/>
                </a:solidFill>
                <a:latin typeface="Nunito"/>
              </a:rPr>
              <a:t>  15%</a:t>
            </a:r>
          </a:p>
        </p:txBody>
      </p:sp>
      <p:sp>
        <p:nvSpPr>
          <p:cNvPr id="9" name="Rectangle 8"/>
          <p:cNvSpPr/>
          <p:nvPr/>
        </p:nvSpPr>
        <p:spPr>
          <a:xfrm>
            <a:off x="10077450" y="2148840"/>
            <a:ext cx="633929" cy="731520"/>
          </a:xfrm>
          <a:prstGeom prst="rect">
            <a:avLst/>
          </a:prstGeom>
          <a:solidFill>
            <a:srgbClr val="9FB4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10747956" y="2148840"/>
            <a:ext cx="304397" cy="731520"/>
          </a:xfrm>
          <a:prstGeom prst="rect">
            <a:avLst/>
          </a:prstGeom>
          <a:solidFill>
            <a:srgbClr val="B3C4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11088929" y="2148840"/>
            <a:ext cx="176246" cy="731520"/>
          </a:xfrm>
          <a:prstGeom prst="rect">
            <a:avLst/>
          </a:prstGeom>
          <a:solidFill>
            <a:srgbClr val="C6D3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11301752" y="2148840"/>
            <a:ext cx="141920" cy="731520"/>
          </a:xfrm>
          <a:prstGeom prst="rect">
            <a:avLst/>
          </a:prstGeom>
          <a:solidFill>
            <a:srgbClr val="D6E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11480248" y="2148840"/>
            <a:ext cx="18288" cy="731520"/>
          </a:xfrm>
          <a:prstGeom prst="rect">
            <a:avLst/>
          </a:prstGeom>
          <a:solidFill>
            <a:srgbClr val="E3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5943600" y="1801368"/>
            <a:ext cx="557784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r">
              <a:spcAft>
                <a:spcPts val="0"/>
              </a:spcAft>
            </a:pPr>
            <a:r>
              <a:rPr sz="1200" b="0" i="0">
                <a:solidFill>
                  <a:srgbClr val="4F6B80"/>
                </a:solidFill>
                <a:latin typeface="Nunito"/>
              </a:rPr>
              <a:t>Then mining 6%, industry 3%, fish hatcheries 2%, power 2%, livestock 0.4%</a:t>
            </a:r>
          </a:p>
        </p:txBody>
      </p:sp>
      <p:sp>
        <p:nvSpPr>
          <p:cNvPr id="15" name="Freeform 14"/>
          <p:cNvSpPr/>
          <p:nvPr/>
        </p:nvSpPr>
        <p:spPr>
          <a:xfrm>
            <a:off x="685800" y="2880360"/>
            <a:ext cx="10835640" cy="1005840"/>
          </a:xfrm>
          <a:custGeom>
            <a:avLst/>
            <a:gdLst/>
            <a:ahLst/>
            <a:cxnLst/>
            <a:rect l="l" t="t" r="r" b="b"/>
            <a:pathLst>
              <a:path w="10835640" h="1005840">
                <a:moveTo>
                  <a:pt x="7757723" y="0"/>
                </a:moveTo>
                <a:lnTo>
                  <a:pt x="9355074" y="0"/>
                </a:lnTo>
                <a:lnTo>
                  <a:pt x="10835640" y="1005840"/>
                </a:lnTo>
                <a:lnTo>
                  <a:pt x="0" y="1005840"/>
                </a:lnTo>
                <a:close/>
              </a:path>
            </a:pathLst>
          </a:custGeom>
          <a:solidFill>
            <a:srgbClr val="D4E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3913632"/>
            <a:ext cx="1083564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2324A"/>
                </a:solidFill>
                <a:latin typeface="Nunito"/>
              </a:rPr>
              <a:t>Where cities' water goes, counting secondary (untreated) irrigation water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85800" y="4297680"/>
            <a:ext cx="4514392" cy="731520"/>
          </a:xfrm>
          <a:prstGeom prst="rect">
            <a:avLst/>
          </a:prstGeom>
          <a:solidFill>
            <a:srgbClr val="2C9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795528" y="4297680"/>
            <a:ext cx="4368088" cy="73152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Nunito"/>
              </a:rPr>
              <a:t>Home yards</a:t>
            </a:r>
            <a:r>
              <a:rPr sz="1500" b="0" i="0">
                <a:solidFill>
                  <a:srgbClr val="FFFFFF"/>
                </a:solidFill>
                <a:latin typeface="Nunito"/>
              </a:rPr>
              <a:t>  42%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236768" y="4297680"/>
            <a:ext cx="2997403" cy="731520"/>
          </a:xfrm>
          <a:prstGeom prst="rect">
            <a:avLst/>
          </a:prstGeom>
          <a:solidFill>
            <a:srgbClr val="A9D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5346496" y="4297680"/>
            <a:ext cx="2851099" cy="73152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2324A"/>
                </a:solidFill>
                <a:latin typeface="Nunito"/>
              </a:rPr>
              <a:t>Inside homes</a:t>
            </a:r>
            <a:r>
              <a:rPr sz="1500" b="0" i="0">
                <a:solidFill>
                  <a:srgbClr val="12324A"/>
                </a:solidFill>
                <a:latin typeface="Nunito"/>
              </a:rPr>
              <a:t>  28%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70748" y="4297680"/>
            <a:ext cx="3214116" cy="731520"/>
          </a:xfrm>
          <a:prstGeom prst="rect">
            <a:avLst/>
          </a:prstGeom>
          <a:solidFill>
            <a:srgbClr val="CDDB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380475" y="4297680"/>
            <a:ext cx="3067812" cy="73152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2324A"/>
                </a:solidFill>
                <a:latin typeface="Nunito"/>
              </a:rPr>
              <a:t>Businesses, schools, churches &amp; industry</a:t>
            </a:r>
            <a:r>
              <a:rPr sz="1500" b="0" i="0">
                <a:solidFill>
                  <a:srgbClr val="12324A"/>
                </a:solidFill>
                <a:latin typeface="Nunito"/>
              </a:rPr>
              <a:t>  30%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5138928"/>
            <a:ext cx="10835640" cy="10058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200" b="1" i="0">
                <a:solidFill>
                  <a:srgbClr val="2C9A4B"/>
                </a:solidFill>
                <a:latin typeface="Fredoka"/>
              </a:rPr>
              <a:t>Home yards: 500,993 acre-feet a year,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200" b="1" i="0">
                <a:solidFill>
                  <a:srgbClr val="12324A"/>
                </a:solidFill>
                <a:latin typeface="Fredoka"/>
              </a:rPr>
              <a:t>enough to raise Great Salt Lake about 10 inches.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" y="6217920"/>
            <a:ext cx="1078992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4F6B80"/>
                </a:solidFill>
                <a:latin typeface="Nunito"/>
              </a:rPr>
              <a:t>All water: USGS Circular 1441, Utah 2015 (withdrawals incl. saline; much of Utah's secondary yard water is counted under irrigation there). Cities: Utah DWR Water Resources Plan 2021 via USU Extension (M&amp;I is 25% of 4.75M AF diverted; &gt;70% residential; 60% of that outdoors). Lake: ~610,000 acres near 4,191 ft (UGS), volume equivalent only; saved water can increase potential flows to the lake.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8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822960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1F86D6"/>
                </a:solidFill>
                <a:latin typeface="Nunito"/>
              </a:rPr>
              <a:t>WHY NOW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22960"/>
            <a:ext cx="10789920" cy="9144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4000" b="1" i="0">
                <a:solidFill>
                  <a:srgbClr val="12324A"/>
                </a:solidFill>
                <a:latin typeface="Fredoka"/>
              </a:rPr>
              <a:t>The lake needs that water back.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2011680"/>
            <a:ext cx="5212080" cy="3429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CFE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960120" y="2194560"/>
            <a:ext cx="475488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1F86D6"/>
                </a:solidFill>
                <a:latin typeface="Nunito"/>
              </a:rPr>
              <a:t>GREAT SALT LAKE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" y="2560320"/>
            <a:ext cx="4754880" cy="10972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sz="6400" b="1" i="0">
                <a:solidFill>
                  <a:srgbClr val="E5533F"/>
                </a:solidFill>
                <a:latin typeface="Fredoka"/>
              </a:rPr>
              <a:t>4,190.4 ft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3657600"/>
            <a:ext cx="475488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800" b="0" i="0">
                <a:solidFill>
                  <a:srgbClr val="12324A"/>
                </a:solidFill>
                <a:latin typeface="Nunito"/>
              </a:rPr>
              <a:t>August 2026. The healthy range starts at 4,198 ft.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4343400"/>
            <a:ext cx="4754880" cy="10972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800" b="1" i="0">
                <a:solidFill>
                  <a:srgbClr val="12324A"/>
                </a:solidFill>
                <a:latin typeface="Nunito"/>
              </a:rPr>
              <a:t>471,000–1,055,000 </a:t>
            </a:r>
            <a:r>
              <a:rPr sz="1800" b="0" i="0">
                <a:solidFill>
                  <a:srgbClr val="12324A"/>
                </a:solidFill>
                <a:latin typeface="Nunito"/>
              </a:rPr>
              <a:t>more acre-feet a year to get it back.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2011680"/>
            <a:ext cx="5303520" cy="3429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CFE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6492240" y="2194560"/>
            <a:ext cx="475488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2C9A4B"/>
                </a:solidFill>
                <a:latin typeface="Nunito"/>
              </a:rPr>
              <a:t>AND IT STAYS WITH THE LAKE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2606040"/>
            <a:ext cx="4754880" cy="9144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600" b="1" i="0">
                <a:solidFill>
                  <a:srgbClr val="12324A"/>
                </a:solidFill>
                <a:latin typeface="Fredoka"/>
              </a:rPr>
              <a:t>Water saved on yards can flow to the lake.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0" y="3657600"/>
            <a:ext cx="4800600" cy="17373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110000"/>
              </a:lnSpc>
              <a:spcAft>
                <a:spcPts val="1000"/>
              </a:spcAft>
            </a:pPr>
            <a:r>
              <a:rPr sz="1800" b="1" i="0">
                <a:solidFill>
                  <a:srgbClr val="12324A"/>
                </a:solidFill>
                <a:latin typeface="Nunito"/>
              </a:rPr>
              <a:t>Executive Order 2026-03 </a:t>
            </a:r>
            <a:r>
              <a:rPr sz="1800" b="0" i="0">
                <a:solidFill>
                  <a:srgbClr val="12324A"/>
                </a:solidFill>
                <a:latin typeface="Nunito"/>
              </a:rPr>
              <a:t>(May 2026): new data centers may not add to Great Salt Lake's depletion.</a:t>
            </a:r>
          </a:p>
          <a:p>
            <a:pPr algn="l">
              <a:lnSpc>
                <a:spcPct val="110000"/>
              </a:lnSpc>
              <a:spcAft>
                <a:spcPts val="1000"/>
              </a:spcAft>
            </a:pPr>
            <a:r>
              <a:rPr sz="1800" b="1" i="0">
                <a:solidFill>
                  <a:srgbClr val="12324A"/>
                </a:solidFill>
                <a:latin typeface="Nunito"/>
              </a:rPr>
              <a:t>So Utah's AI build-out can't take what yards give back.</a:t>
            </a:r>
          </a:p>
        </p:txBody>
      </p:sp>
      <p:pic>
        <p:nvPicPr>
          <p:cNvPr id="13" name="Picture 12" descr="arch-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502920"/>
            <a:ext cx="1030014" cy="128016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85800" y="6355080"/>
            <a:ext cx="1078992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4F6B80"/>
                </a:solidFill>
                <a:latin typeface="Nunito"/>
              </a:rPr>
              <a:t>Sources: Utah News Dispatch / USGS gauge (lake level); Great Salt Lake Strategic Plan (inflow need); Utah Executive Order 2026-03 (May 29, 2026). Saved water can increase potential flows to the lake; it may be reused upstream.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8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822960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1F86D6"/>
                </a:solidFill>
                <a:latin typeface="Nunito"/>
              </a:rPr>
              <a:t>LIVE DEMO · OVERWATER.ING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22960"/>
            <a:ext cx="10789920" cy="9144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4000" b="1" i="0">
                <a:solidFill>
                  <a:srgbClr val="12324A"/>
                </a:solidFill>
                <a:latin typeface="Fredoka"/>
              </a:rPr>
              <a:t>Type any Utah address.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783080"/>
            <a:ext cx="315468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2100" b="1" i="0">
                <a:solidFill>
                  <a:srgbClr val="1F86D6"/>
                </a:solidFill>
                <a:latin typeface="Fredoka"/>
              </a:rPr>
              <a:t>1  </a:t>
            </a:r>
            <a:r>
              <a:rPr sz="2100" b="1" i="0">
                <a:solidFill>
                  <a:srgbClr val="12324A"/>
                </a:solidFill>
                <a:latin typeface="Fredoka"/>
              </a:rPr>
              <a:t>Enter your address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4526280"/>
            <a:ext cx="315468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400" b="0" i="0">
                <a:solidFill>
                  <a:srgbClr val="4F6B80"/>
                </a:solidFill>
                <a:latin typeface="Nunito"/>
              </a:rPr>
              <a:t>Any address in all 29 counties.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26280" y="1783080"/>
            <a:ext cx="315468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2100" b="1" i="0">
                <a:solidFill>
                  <a:srgbClr val="1F86D6"/>
                </a:solidFill>
                <a:latin typeface="Fredoka"/>
              </a:rPr>
              <a:t>2  </a:t>
            </a:r>
            <a:r>
              <a:rPr sz="2100" b="1" i="0">
                <a:solidFill>
                  <a:srgbClr val="12324A"/>
                </a:solidFill>
                <a:latin typeface="Fredoka"/>
              </a:rPr>
              <a:t>Confirm what's grass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26280" y="4526280"/>
            <a:ext cx="315468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400" b="0" i="0">
                <a:solidFill>
                  <a:srgbClr val="4F6B80"/>
                </a:solidFill>
                <a:latin typeface="Nunito"/>
              </a:rPr>
              <a:t>Tap a shape to fix it. 6,828 sq ft of lawn here.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66760" y="1783080"/>
            <a:ext cx="315468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2100" b="1" i="0">
                <a:solidFill>
                  <a:srgbClr val="1F86D6"/>
                </a:solidFill>
                <a:latin typeface="Fredoka"/>
              </a:rPr>
              <a:t>3  </a:t>
            </a:r>
            <a:r>
              <a:rPr sz="2100" b="1" i="0">
                <a:solidFill>
                  <a:srgbClr val="12324A"/>
                </a:solidFill>
                <a:latin typeface="Fredoka"/>
              </a:rPr>
              <a:t>See what native saves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66760" y="4526280"/>
            <a:ext cx="315468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400" b="0" i="0">
                <a:solidFill>
                  <a:srgbClr val="4F6B80"/>
                </a:solidFill>
                <a:latin typeface="Nunito"/>
              </a:rPr>
              <a:t>89,236 gallons a year, and up to $20,484 back.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4041648" y="3154680"/>
            <a:ext cx="384048" cy="292608"/>
          </a:xfrm>
          <a:prstGeom prst="rightArrow">
            <a:avLst/>
          </a:prstGeom>
          <a:solidFill>
            <a:srgbClr val="4CC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ight Arrow 10"/>
          <p:cNvSpPr/>
          <p:nvPr/>
        </p:nvSpPr>
        <p:spPr>
          <a:xfrm>
            <a:off x="7882128" y="3154680"/>
            <a:ext cx="384048" cy="292608"/>
          </a:xfrm>
          <a:prstGeom prst="rightArrow">
            <a:avLst/>
          </a:prstGeom>
          <a:solidFill>
            <a:srgbClr val="4CC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67512" y="2816352"/>
            <a:ext cx="3191256" cy="1037562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25400">
            <a:solidFill>
              <a:srgbClr val="CFE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3" name="Picture 12" descr="flow-1-search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880360"/>
            <a:ext cx="3063240" cy="909546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4965192" y="2267712"/>
            <a:ext cx="2308348" cy="2231136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25400">
            <a:solidFill>
              <a:srgbClr val="CFE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5" name="Picture 14" descr="flow-2-map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0" y="2331720"/>
            <a:ext cx="2180332" cy="2103120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8348472" y="2450592"/>
            <a:ext cx="3191256" cy="1840491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25400">
            <a:solidFill>
              <a:srgbClr val="CFE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" name="Picture 16" descr="flow-3-nativ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2480" y="2514600"/>
            <a:ext cx="3063240" cy="1712475"/>
          </a:xfrm>
          <a:prstGeom prst="rect">
            <a:avLst/>
          </a:prstGeom>
        </p:spPr>
      </p:pic>
      <p:sp>
        <p:nvSpPr>
          <p:cNvPr id="18" name="Rounded Rectangle 17"/>
          <p:cNvSpPr/>
          <p:nvPr/>
        </p:nvSpPr>
        <p:spPr>
          <a:xfrm>
            <a:off x="685800" y="5120640"/>
            <a:ext cx="10835640" cy="1325880"/>
          </a:xfrm>
          <a:prstGeom prst="roundRect">
            <a:avLst>
              <a:gd name="adj" fmla="val 14000"/>
            </a:avLst>
          </a:prstGeom>
          <a:solidFill>
            <a:srgbClr val="DFF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60120" y="5212080"/>
            <a:ext cx="8412480" cy="11887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2100" b="1" i="0">
                <a:solidFill>
                  <a:srgbClr val="1F86D6"/>
                </a:solidFill>
                <a:latin typeface="Fredoka"/>
              </a:rPr>
              <a:t>4  </a:t>
            </a:r>
            <a:r>
              <a:rPr sz="2100" b="1" i="0">
                <a:solidFill>
                  <a:srgbClr val="12324A"/>
                </a:solidFill>
                <a:latin typeface="Fredoka"/>
              </a:rPr>
              <a:t>Or lower your water use today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12324A"/>
                </a:solidFill>
                <a:latin typeface="Nunito"/>
              </a:rPr>
              <a:t>County-level watering schedules that follow the state's weekly guide, as a calendar or sent straight to the controller: OpenSprinkler, Rachio or Home Assistant.</a:t>
            </a:r>
          </a:p>
        </p:txBody>
      </p:sp>
      <p:pic>
        <p:nvPicPr>
          <p:cNvPr id="20" name="Picture 19" descr="sprinkl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84080" y="5074920"/>
            <a:ext cx="1748511" cy="12801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8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822960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1F86D6"/>
                </a:solidFill>
                <a:latin typeface="Nunito"/>
              </a:rPr>
              <a:t>THE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22960"/>
            <a:ext cx="10789920" cy="9144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4000" b="1" i="0">
                <a:solidFill>
                  <a:srgbClr val="12324A"/>
                </a:solidFill>
                <a:latin typeface="Fredoka"/>
              </a:rPr>
              <a:t>Three phases. $10K unlocks the second.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783080"/>
            <a:ext cx="3429000" cy="4526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CFE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914400" y="1938528"/>
            <a:ext cx="301752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2C9A4B"/>
                </a:solidFill>
                <a:latin typeface="Nunito"/>
              </a:rPr>
              <a:t>PHASE 1 · LIVE NOW</a:t>
            </a:r>
          </a:p>
        </p:txBody>
      </p:sp>
      <p:pic>
        <p:nvPicPr>
          <p:cNvPr id="6" name="Picture 5" descr="icon-check-2c9a4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2459736"/>
            <a:ext cx="292608" cy="29260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325880" y="2423160"/>
            <a:ext cx="2606040" cy="694944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500" b="1" i="0">
                <a:solidFill>
                  <a:srgbClr val="12324A"/>
                </a:solidFill>
                <a:latin typeface="Nunito"/>
              </a:rPr>
              <a:t>Estimate your rebate to go native</a:t>
            </a:r>
          </a:p>
        </p:txBody>
      </p:sp>
      <p:pic>
        <p:nvPicPr>
          <p:cNvPr id="8" name="Picture 7" descr="icon-check-2c9a4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3300984"/>
            <a:ext cx="292608" cy="29260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325880" y="3264408"/>
            <a:ext cx="2606040" cy="694944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500" b="1" i="0">
                <a:solidFill>
                  <a:srgbClr val="12324A"/>
                </a:solidFill>
                <a:latin typeface="Nunito"/>
              </a:rPr>
              <a:t>Optimize your watering schedule</a:t>
            </a:r>
          </a:p>
        </p:txBody>
      </p:sp>
      <p:pic>
        <p:nvPicPr>
          <p:cNvPr id="10" name="Picture 9" descr="icon-check-2c9a4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4142232"/>
            <a:ext cx="292608" cy="29260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325880" y="4105656"/>
            <a:ext cx="2606040" cy="9966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500" b="1" i="0">
                <a:solidFill>
                  <a:srgbClr val="12324A"/>
                </a:solidFill>
                <a:latin typeface="Nunito"/>
              </a:rPr>
              <a:t>OpenSprinkler integration, plus Rachio and Home Assistant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89120" y="1783080"/>
            <a:ext cx="3429000" cy="4526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F8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4617720" y="1938528"/>
            <a:ext cx="301752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1F86D6"/>
                </a:solidFill>
                <a:latin typeface="Nunito"/>
              </a:rPr>
              <a:t>PHASE 2 · WHAT $10K FUNDS</a:t>
            </a:r>
          </a:p>
        </p:txBody>
      </p:sp>
      <p:pic>
        <p:nvPicPr>
          <p:cNvPr id="14" name="Picture 13" descr="icon-ring-1f86d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17720" y="2459736"/>
            <a:ext cx="292608" cy="29260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029200" y="2423160"/>
            <a:ext cx="2606040" cy="694944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500" b="1" i="0">
                <a:solidFill>
                  <a:srgbClr val="12324A"/>
                </a:solidFill>
                <a:latin typeface="Nunito"/>
              </a:rPr>
              <a:t>Pilot: manage sprinklers remotely</a:t>
            </a:r>
          </a:p>
        </p:txBody>
      </p:sp>
      <p:pic>
        <p:nvPicPr>
          <p:cNvPr id="16" name="Picture 15" descr="icon-ring-1f86d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17720" y="3300984"/>
            <a:ext cx="292608" cy="292608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5029200" y="3264408"/>
            <a:ext cx="2606040" cy="694944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500" b="1" i="0">
                <a:solidFill>
                  <a:srgbClr val="12324A"/>
                </a:solidFill>
                <a:latin typeface="Nunito"/>
              </a:rPr>
              <a:t>Support more sprinkler systems</a:t>
            </a:r>
          </a:p>
        </p:txBody>
      </p:sp>
      <p:pic>
        <p:nvPicPr>
          <p:cNvPr id="18" name="Picture 17" descr="icon-ring-1f86d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17720" y="4142232"/>
            <a:ext cx="292608" cy="292608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5029200" y="4105656"/>
            <a:ext cx="2606040" cy="694944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500" b="1" i="0">
                <a:solidFill>
                  <a:srgbClr val="12324A"/>
                </a:solidFill>
                <a:latin typeface="Nunito"/>
              </a:rPr>
              <a:t>Moisture sensor integration</a:t>
            </a:r>
          </a:p>
        </p:txBody>
      </p:sp>
      <p:pic>
        <p:nvPicPr>
          <p:cNvPr id="20" name="Picture 19" descr="icon-ring-1f86d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17720" y="4983480"/>
            <a:ext cx="292608" cy="292608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5029200" y="4946904"/>
            <a:ext cx="2606040" cy="9966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500" b="1" i="0">
                <a:solidFill>
                  <a:srgbClr val="12324A"/>
                </a:solidFill>
                <a:latin typeface="Nunito"/>
              </a:rPr>
              <a:t>Meet Utah's water-wise partners: what's in progress, next steps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0" y="6044184"/>
            <a:ext cx="2743200" cy="1463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4F6B80"/>
                </a:solidFill>
                <a:latin typeface="Nunito"/>
              </a:rPr>
              <a:t>slowtheflow.org/partners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092440" y="1783080"/>
            <a:ext cx="3429000" cy="4526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CFE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8321040" y="1938528"/>
            <a:ext cx="301752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C27C00"/>
                </a:solidFill>
                <a:latin typeface="Nunito"/>
              </a:rPr>
              <a:t>PHASE 3 · WITH THE STATE</a:t>
            </a:r>
          </a:p>
        </p:txBody>
      </p:sp>
      <p:pic>
        <p:nvPicPr>
          <p:cNvPr id="25" name="Picture 24" descr="icon-ring-c27c0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21040" y="2459736"/>
            <a:ext cx="292608" cy="292608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8732519" y="2423160"/>
            <a:ext cx="2606040" cy="694944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500" b="1" i="0">
                <a:solidFill>
                  <a:srgbClr val="12324A"/>
                </a:solidFill>
                <a:latin typeface="Nunito"/>
              </a:rPr>
              <a:t>Drone scans tune each sprinkler head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21040" y="3355848"/>
            <a:ext cx="2743200" cy="1463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0" i="0">
                <a:solidFill>
                  <a:srgbClr val="4F6B80"/>
                </a:solidFill>
                <a:latin typeface="Nunito"/>
              </a:rPr>
              <a:t>State drone flights a few times a week map moisture with LiDAR. Each sprinkler waters only the patch that needs it, and skips the rest.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8FE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cene-foo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622855"/>
            <a:ext cx="12191695" cy="223514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731520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1F86D6"/>
                </a:solidFill>
                <a:latin typeface="Nunito"/>
              </a:rPr>
              <a:t>THE ASK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051560"/>
            <a:ext cx="7498079" cy="17373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4800" b="1" i="0">
                <a:solidFill>
                  <a:srgbClr val="12324A"/>
                </a:solidFill>
                <a:latin typeface="Fredoka"/>
              </a:rPr>
              <a:t>Type your address at overwater.ing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788920"/>
            <a:ext cx="7680960" cy="17373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2000" b="1" i="0">
                <a:solidFill>
                  <a:srgbClr val="1F86D6"/>
                </a:solidFill>
                <a:latin typeface="Nunito"/>
              </a:rPr>
              <a:t>$10K </a:t>
            </a:r>
            <a:r>
              <a:rPr sz="2000" b="0" i="0">
                <a:solidFill>
                  <a:srgbClr val="12324A"/>
                </a:solidFill>
                <a:latin typeface="Nunito"/>
              </a:rPr>
              <a:t>for phase 2: a pilot that runs real sprinklers.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2000" b="1" i="0">
                <a:solidFill>
                  <a:srgbClr val="1F86D6"/>
                </a:solidFill>
                <a:latin typeface="Nunito"/>
              </a:rPr>
              <a:t>Intros </a:t>
            </a:r>
            <a:r>
              <a:rPr sz="2000" b="0" i="0">
                <a:solidFill>
                  <a:srgbClr val="12324A"/>
                </a:solidFill>
                <a:latin typeface="Nunito"/>
              </a:rPr>
              <a:t>to Utah's water-wise partners, a district conservation team, and drone training academies for LiDAR scans.</a:t>
            </a:r>
          </a:p>
        </p:txBody>
      </p:sp>
      <p:pic>
        <p:nvPicPr>
          <p:cNvPr id="6" name="Picture 5" descr="q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15400" y="777240"/>
            <a:ext cx="2377440" cy="23774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915400" y="3200400"/>
            <a:ext cx="237744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ctr">
              <a:spcAft>
                <a:spcPts val="0"/>
              </a:spcAft>
            </a:pPr>
            <a:r>
              <a:rPr sz="1800" b="1" i="0">
                <a:solidFill>
                  <a:srgbClr val="12324A"/>
                </a:solidFill>
                <a:latin typeface="Fredoka"/>
              </a:rPr>
              <a:t>overwater.ing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F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2377440"/>
            <a:ext cx="10789920" cy="10972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4400" b="1" i="0">
                <a:solidFill>
                  <a:srgbClr val="12324A"/>
                </a:solidFill>
                <a:latin typeface="Fredoka"/>
              </a:rPr>
              <a:t>Backup: the demo, step by step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3429000"/>
            <a:ext cx="10789920" cy="7315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2000" b="0" i="0">
                <a:solidFill>
                  <a:srgbClr val="4F6B80"/>
                </a:solidFill>
                <a:latin typeface="Nunito"/>
              </a:rPr>
              <a:t>If the Wi-Fi fails, click through these instead. Same order as the live demo.</a:t>
            </a:r>
          </a:p>
        </p:txBody>
      </p:sp>
      <p:pic>
        <p:nvPicPr>
          <p:cNvPr id="4" name="Picture 3" descr="sprinkler-o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4206240"/>
            <a:ext cx="1280160" cy="16002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8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78992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3000" b="1" i="0">
                <a:solidFill>
                  <a:srgbClr val="12324A"/>
                </a:solidFill>
                <a:latin typeface="Fredoka"/>
              </a:rPr>
              <a:t>1 · Enter any Utah address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21792" y="1124712"/>
            <a:ext cx="7662672" cy="4837176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25400">
            <a:solidFill>
              <a:srgbClr val="CFE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" name="Picture 3" descr="02-search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188720"/>
            <a:ext cx="7534656" cy="470916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8531352" y="1124712"/>
            <a:ext cx="3054096" cy="996836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25400">
            <a:solidFill>
              <a:srgbClr val="CFE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flow-1-search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0" y="1188720"/>
            <a:ext cx="2926080" cy="8688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595360" y="2331860"/>
            <a:ext cx="2926080" cy="3566019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0" i="0">
                <a:solidFill>
                  <a:srgbClr val="12324A"/>
                </a:solidFill>
                <a:latin typeface="Nunito"/>
              </a:rPr>
              <a:t>Search covers parcels in all 29 counties.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8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78992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3000" b="1" i="0">
                <a:solidFill>
                  <a:srgbClr val="12324A"/>
                </a:solidFill>
                <a:latin typeface="Fredoka"/>
              </a:rPr>
              <a:t>2 · Confirm what's grass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21792" y="1124712"/>
            <a:ext cx="7662672" cy="4837176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25400">
            <a:solidFill>
              <a:srgbClr val="CFE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" name="Picture 3" descr="03-l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188720"/>
            <a:ext cx="7534656" cy="470916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8531352" y="1124712"/>
            <a:ext cx="3054096" cy="1785408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25400">
            <a:solidFill>
              <a:srgbClr val="CFE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flow-2-lawn-zoom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0" y="1188720"/>
            <a:ext cx="2926080" cy="165739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595360" y="3120432"/>
            <a:ext cx="2926080" cy="2777447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0" i="0">
                <a:solidFill>
                  <a:srgbClr val="12324A"/>
                </a:solidFill>
                <a:latin typeface="Nunito"/>
              </a:rPr>
              <a:t>2024 USDA imagery at 0.6 m. Green = lawn, dark green = trees, red = buildings. Tap a shape to fix it. 6,828 sq ft of lawn here.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8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78992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3000" b="1" i="0">
                <a:solidFill>
                  <a:srgbClr val="12324A"/>
                </a:solidFill>
                <a:latin typeface="Fredoka"/>
              </a:rPr>
              <a:t>3 · What going native saves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21792" y="1124712"/>
            <a:ext cx="7662672" cy="4837176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25400">
            <a:solidFill>
              <a:srgbClr val="CFE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" name="Picture 3" descr="07-nativ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188720"/>
            <a:ext cx="7534656" cy="470916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8531352" y="1124712"/>
            <a:ext cx="3054096" cy="1763813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25400">
            <a:solidFill>
              <a:srgbClr val="CFE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flow-3-nativ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0" y="1188720"/>
            <a:ext cx="2926080" cy="163579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595360" y="3098837"/>
            <a:ext cx="2926080" cy="2799042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0" i="0">
                <a:solidFill>
                  <a:srgbClr val="12324A"/>
                </a:solidFill>
                <a:latin typeface="Nunito"/>
              </a:rPr>
              <a:t>About 89,236 gallons a year for this lot, then the plants and the designers to call.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8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78992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3000" b="1" i="0">
                <a:solidFill>
                  <a:srgbClr val="12324A"/>
                </a:solidFill>
                <a:latin typeface="Fredoka"/>
              </a:rPr>
              <a:t>3 · The rebate, and who's in charge here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21792" y="1124712"/>
            <a:ext cx="7662672" cy="4837176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25400">
            <a:solidFill>
              <a:srgbClr val="CFE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" name="Picture 3" descr="08-rebat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188720"/>
            <a:ext cx="7534656" cy="470916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8531352" y="1124712"/>
            <a:ext cx="3054096" cy="3469793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25400">
            <a:solidFill>
              <a:srgbClr val="CFE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flow-3-rebate-zoom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0" y="1188720"/>
            <a:ext cx="2926080" cy="334177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595360" y="4804817"/>
            <a:ext cx="2926080" cy="1093062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0" i="0">
                <a:solidFill>
                  <a:srgbClr val="12324A"/>
                </a:solidFill>
                <a:latin typeface="Nunito"/>
              </a:rPr>
              <a:t>Up to $20,484 from Central Utah Water Conservancy District. City, water provider and program for this exact lot.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8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78992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3000" b="1" i="0">
                <a:solidFill>
                  <a:srgbClr val="12324A"/>
                </a:solidFill>
                <a:latin typeface="Fredoka"/>
              </a:rPr>
              <a:t>4 · Lower your water use today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21792" y="1124712"/>
            <a:ext cx="7662672" cy="4837176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25400">
            <a:solidFill>
              <a:srgbClr val="CFE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" name="Picture 3" descr="05-watering-pla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188720"/>
            <a:ext cx="7534656" cy="470916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8531352" y="1124712"/>
            <a:ext cx="3054096" cy="684014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25400">
            <a:solidFill>
              <a:srgbClr val="CFE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flow-4-plan-zoom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0" y="1188720"/>
            <a:ext cx="2926080" cy="55599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595360" y="2019038"/>
            <a:ext cx="2926080" cy="3878841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0" i="0">
                <a:solidFill>
                  <a:srgbClr val="12324A"/>
                </a:solidFill>
                <a:latin typeface="Nunito"/>
              </a:rPr>
              <a:t>Spray heads and a basic timer, in this county's weather: one thing to change.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8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78992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3000" b="1" i="0">
                <a:solidFill>
                  <a:srgbClr val="12324A"/>
                </a:solidFill>
                <a:latin typeface="Fredoka"/>
              </a:rPr>
              <a:t>4 · The schedule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264511" y="1124712"/>
            <a:ext cx="7662672" cy="4837176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25400">
            <a:solidFill>
              <a:srgbClr val="CFE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" name="Picture 3" descr="05-watering-schedul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28519" y="1188720"/>
            <a:ext cx="7534656" cy="47091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6080760"/>
            <a:ext cx="1078992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ctr">
              <a:spcAft>
                <a:spcPts val="0"/>
              </a:spcAft>
            </a:pPr>
            <a:r>
              <a:rPr sz="1500" b="0" i="0">
                <a:solidFill>
                  <a:srgbClr val="4F6B80"/>
                </a:solidFill>
                <a:latin typeface="Nunito"/>
              </a:rPr>
              <a:t>Days a week and cycle-and-soak minutes per zone, from local weather.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8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78992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3000" b="1" i="0">
                <a:solidFill>
                  <a:srgbClr val="12324A"/>
                </a:solidFill>
                <a:latin typeface="Fredoka"/>
              </a:rPr>
              <a:t>4 · Subscribe to the watering calendar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264511" y="1124712"/>
            <a:ext cx="7662672" cy="4837176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25400">
            <a:solidFill>
              <a:srgbClr val="CFE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" name="Picture 3" descr="06-calenda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28519" y="1188720"/>
            <a:ext cx="7534656" cy="47091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6080760"/>
            <a:ext cx="1078992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ctr">
              <a:spcAft>
                <a:spcPts val="0"/>
              </a:spcAft>
            </a:pPr>
            <a:r>
              <a:rPr sz="1500" b="0" i="0">
                <a:solidFill>
                  <a:srgbClr val="4F6B80"/>
                </a:solidFill>
                <a:latin typeface="Nunito"/>
              </a:rPr>
              <a:t>It follows Utah's Weekly Lawn Watering Guide; skip weeks clear themselves.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8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78992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3000" b="1" i="0">
                <a:solidFill>
                  <a:srgbClr val="12324A"/>
                </a:solidFill>
                <a:latin typeface="Fredoka"/>
              </a:rPr>
              <a:t>4 · The controller follows the schedule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143000"/>
            <a:ext cx="521208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E5533F"/>
                </a:solidFill>
                <a:latin typeface="Fredoka"/>
              </a:rPr>
              <a:t>When the state says skip: off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09360" y="1143000"/>
            <a:ext cx="521208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2C9A4B"/>
                </a:solidFill>
                <a:latin typeface="Fredoka"/>
              </a:rPr>
              <a:t>A July week: 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" y="1719072"/>
            <a:ext cx="5248655" cy="1792224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25400">
            <a:solidFill>
              <a:srgbClr val="CFE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06-os-paused-full-enable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783080"/>
            <a:ext cx="5120640" cy="1664207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245352" y="1719072"/>
            <a:ext cx="5248655" cy="1792224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25400">
            <a:solidFill>
              <a:srgbClr val="CFE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06-os-july-full-enabled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783080"/>
            <a:ext cx="5120640" cy="166420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85800" y="3703320"/>
            <a:ext cx="5120640" cy="13716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700" b="0" i="0">
                <a:solidFill>
                  <a:srgbClr val="12324A"/>
                </a:solidFill>
                <a:latin typeface="Nunito"/>
              </a:rPr>
              <a:t>Utah's Weekly Lawn Watering Guide said no watering in Salt Lake County, so the connector switched the program off. Other programs are untouched.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45352" y="3639312"/>
            <a:ext cx="3328416" cy="2608326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25400">
            <a:solidFill>
              <a:srgbClr val="CFE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1" name="Picture 10" descr="06-os-july-full-stations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9360" y="3703320"/>
            <a:ext cx="3200400" cy="248031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692640" y="3703320"/>
            <a:ext cx="1920240" cy="24688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0" i="0">
                <a:solidFill>
                  <a:srgbClr val="12324A"/>
                </a:solidFill>
                <a:latin typeface="Nunito"/>
              </a:rPr>
              <a:t>Mon, Wed, Fri at 5:00 AM. 4 × 7 min per zone, an hour apart, so it soaks in.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5669280"/>
            <a:ext cx="5120640" cy="7315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4F6B80"/>
                </a:solidFill>
                <a:latin typeface="Nunito"/>
              </a:rPr>
              <a:t>OpenSprinkler's own firmware, in demo mode, set by overwater.ing/connect. One program, rewritten each morning.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8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78992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3000" b="1" i="0">
                <a:solidFill>
                  <a:srgbClr val="12324A"/>
                </a:solidFill>
                <a:latin typeface="Fredoka"/>
              </a:rPr>
              <a:t>4 · Any controller: /connect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264511" y="1124712"/>
            <a:ext cx="7662672" cy="4837176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25400">
            <a:solidFill>
              <a:srgbClr val="CFE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" name="Picture 3" descr="06-connec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28519" y="1188720"/>
            <a:ext cx="7534656" cy="47091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6080760"/>
            <a:ext cx="1078992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ctr">
              <a:spcAft>
                <a:spcPts val="0"/>
              </a:spcAft>
            </a:pPr>
            <a:r>
              <a:rPr sz="1500" b="0" i="0">
                <a:solidFill>
                  <a:srgbClr val="4F6B80"/>
                </a:solidFill>
                <a:latin typeface="Nunito"/>
              </a:rPr>
              <a:t>Pick a county and sprinkler type, then OpenSprinkler, Rachio or Home Assistant. The same schedule is open JSON.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8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78992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3000" b="1" i="0">
                <a:solidFill>
                  <a:srgbClr val="12324A"/>
                </a:solidFill>
                <a:latin typeface="Fredoka"/>
              </a:rPr>
              <a:t>Optional · Claude reads the bill: 197,334 gallons over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21792" y="1124712"/>
            <a:ext cx="7662672" cy="4837176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25400">
            <a:solidFill>
              <a:srgbClr val="CFE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" name="Picture 3" descr="04-bi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188720"/>
            <a:ext cx="7534656" cy="470916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8531352" y="1124712"/>
            <a:ext cx="3054096" cy="2692385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25400">
            <a:solidFill>
              <a:srgbClr val="CFE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zoom-bill-zoom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0" y="1188720"/>
            <a:ext cx="2926080" cy="256436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595360" y="4027409"/>
            <a:ext cx="2926080" cy="187047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0" i="0">
                <a:solidFill>
                  <a:srgbClr val="12324A"/>
                </a:solidFill>
                <a:latin typeface="Nunito"/>
              </a:rPr>
              <a:t>320,914 gallons a year outdoors against the 123,581 this lawn needs, read from a photo of the bill.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8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78992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3000" b="1" i="0">
                <a:solidFill>
                  <a:srgbClr val="12324A"/>
                </a:solidFill>
                <a:latin typeface="Fredoka"/>
              </a:rPr>
              <a:t>Optional · Any address, measured live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21792" y="1124712"/>
            <a:ext cx="7662672" cy="4837176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25400">
            <a:solidFill>
              <a:srgbClr val="CFE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" name="Picture 3" descr="09-liv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188720"/>
            <a:ext cx="7534656" cy="470916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8531352" y="1124712"/>
            <a:ext cx="3054096" cy="1645042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25400">
            <a:solidFill>
              <a:srgbClr val="CFE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zoom-live-zoom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0" y="1188720"/>
            <a:ext cx="2926080" cy="151702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595360" y="2980066"/>
            <a:ext cx="2926080" cy="2917813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0" i="0">
                <a:solidFill>
                  <a:srgbClr val="12324A"/>
                </a:solidFill>
                <a:latin typeface="Nunito"/>
              </a:rPr>
              <a:t>67 W 200 N, St. George: 10,834 sq ft of lawn needing 42 inches a season. Measured in the browser, nothing precomputed.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8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78992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3000" b="1" i="0">
                <a:solidFill>
                  <a:srgbClr val="12324A"/>
                </a:solidFill>
                <a:latin typeface="Fredoka"/>
              </a:rPr>
              <a:t>Neighborhood view for districts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264511" y="1124712"/>
            <a:ext cx="7662672" cy="4837176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25400">
            <a:solidFill>
              <a:srgbClr val="CFE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" name="Picture 3" descr="11-district-avenue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28519" y="1188720"/>
            <a:ext cx="7534656" cy="47091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6080760"/>
            <a:ext cx="1078992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ctr">
              <a:spcAft>
                <a:spcPts val="0"/>
              </a:spcAft>
            </a:pPr>
            <a:r>
              <a:rPr sz="1500" b="0" i="0">
                <a:solidFill>
                  <a:srgbClr val="4F6B80"/>
                </a:solidFill>
                <a:latin typeface="Nunito"/>
              </a:rPr>
              <a:t>Totals only, never household rankings.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8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78992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3000" b="1" i="0">
                <a:solidFill>
                  <a:srgbClr val="12324A"/>
                </a:solidFill>
                <a:latin typeface="Fredoka"/>
              </a:rPr>
              <a:t>Utah-scale numbers: overwater.ing/impact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264511" y="1124712"/>
            <a:ext cx="7662672" cy="4837176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25400">
            <a:solidFill>
              <a:srgbClr val="CFE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" name="Picture 3" descr="12-impac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28519" y="1188720"/>
            <a:ext cx="7534656" cy="47091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6080760"/>
            <a:ext cx="1078992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ctr">
              <a:spcAft>
                <a:spcPts val="0"/>
              </a:spcAft>
            </a:pPr>
            <a:r>
              <a:rPr sz="1500" b="0" i="0">
                <a:solidFill>
                  <a:srgbClr val="4F6B80"/>
                </a:solidFill>
                <a:latin typeface="Nunito"/>
              </a:rPr>
              <a:t>Our measured neighborhoods and the state-scale scenario.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8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78992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3000" b="1" i="0">
                <a:solidFill>
                  <a:srgbClr val="12324A"/>
                </a:solidFill>
                <a:latin typeface="Fredoka"/>
              </a:rPr>
              <a:t>Sources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143000"/>
            <a:ext cx="10789920" cy="5394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1300" b="0" i="0">
                <a:solidFill>
                  <a:srgbClr val="12324A"/>
                </a:solidFill>
                <a:latin typeface="Nunito"/>
              </a:rPr>
              <a:t>•  All Utah water by category (2015): USGS Circular 1441, Estimated Use of Water in the United States in 2015, Table 2B</a:t>
            </a:r>
          </a:p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1300" b="0" i="0">
                <a:solidFill>
                  <a:srgbClr val="12324A"/>
                </a:solidFill>
                <a:latin typeface="Nunito"/>
              </a:rPr>
              <a:t>•  Cities' water: Utah DWR Water Resources Plan (Dec 2021) via USU Extension, extension.usu.edu/climate/research/water-wise-policies-and-programs-utah: 4.75M AF diverted, M&amp;I 25%, &gt;70% residential, 60% outdoors, 500,993 AF/yr</a:t>
            </a:r>
          </a:p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1300" b="0" i="0">
                <a:solidFill>
                  <a:srgbClr val="12324A"/>
                </a:solidFill>
                <a:latin typeface="Nunito"/>
              </a:rPr>
              <a:t>•  Great Salt Lake area ~610,000 acres near 4,191 ft: Utah Geological Survey. Level 4,190.4 ft (Aug 2026), healthy from 4,198 ft: Utah News Dispatch; wre-rapps.utah.gov/GSLApp</a:t>
            </a:r>
          </a:p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1300" b="0" i="0">
                <a:solidFill>
                  <a:srgbClr val="12324A"/>
                </a:solidFill>
                <a:latin typeface="Nunito"/>
              </a:rPr>
              <a:t>•  471,000–1,055,000 AF/yr more inflow: Great Salt Lake Strategic Plan, greatsaltlake.utah.gov</a:t>
            </a:r>
          </a:p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1300" b="0" i="0">
                <a:solidFill>
                  <a:srgbClr val="12324A"/>
                </a:solidFill>
                <a:latin typeface="Nunito"/>
              </a:rPr>
              <a:t>•  Data centers may not add GSL depletion: Utah Executive Order 2026-03 (May 29, 2026)</a:t>
            </a:r>
          </a:p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1300" b="0" i="0">
                <a:solidFill>
                  <a:srgbClr val="12324A"/>
                </a:solidFill>
                <a:latin typeface="Nunito"/>
              </a:rPr>
              <a:t>•  Rebates of $1.50–$3 per sq ft: Utah Water Savers Landscape Incentive Program (rates checked Oct 27 2026)</a:t>
            </a:r>
          </a:p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1300" b="0" i="0">
                <a:solidFill>
                  <a:srgbClr val="12324A"/>
                </a:solidFill>
                <a:latin typeface="Nunito"/>
              </a:rPr>
              <a:t>•  Water-wise partners: slowtheflow.org/partners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