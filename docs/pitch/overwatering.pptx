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[0:00–0:05]</a:t>
            </a:r>
          </a:p>
          <a:p>
            <a:r>
              <a:t>Hi, I'm Adam Fortuna. This is Overwater.ing. Question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[0:05–0:30]</a:t>
            </a:r>
          </a:p>
          <a:p>
            <a:r>
              <a:t>In July I went to Perspectives Over Pints at Fisher Brewing, and The Yard Farmer gave the talk.</a:t>
            </a:r>
          </a:p>
          <a:p>
            <a:r>
              <a:t>Most of Utah's water goes on grass, and the state will pay you to replace it. We booked our own</a:t>
            </a:r>
          </a:p>
          <a:p>
            <a:r>
              <a:t>yard consult for November. But my first question was: how much lawn do I have, and what does it</a:t>
            </a:r>
          </a:p>
          <a:p>
            <a:r>
              <a:t>really need? Nobody could tell 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[0:30–0:42]</a:t>
            </a:r>
          </a:p>
          <a:p>
            <a:r>
              <a:t>About 60 percent of Utah's city water goes outdoors. And since indoor water flows back to the</a:t>
            </a:r>
          </a:p>
          <a:p>
            <a:r>
              <a:t>river, outdoor watering is 96 percent of what our cities use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[0:42–1:00]</a:t>
            </a:r>
          </a:p>
          <a:p>
            <a:r>
              <a:t>Great Salt Lake is eight feet below healthy. Meanwhile Utah has 48 data centers, and since May,</a:t>
            </a:r>
          </a:p>
          <a:p>
            <a:r>
              <a:t>new ones can't add to the lake's depletion. One proposed campus is about a thousand acre-feet a</a:t>
            </a:r>
          </a:p>
          <a:p>
            <a:r>
              <a:t>year. That water has to come from somewhere. The biggest place to find it is the yard.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[1:00–1:10]</a:t>
            </a:r>
          </a:p>
          <a:p>
            <a:r>
              <a:t>The state already pays up to three dollars a square foot to replace grass. But nobody knows, lot</a:t>
            </a:r>
          </a:p>
          <a:p>
            <a:r>
              <a:t>by lot, how much lawn there is. So I built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[1:10–3:00]</a:t>
            </a:r>
          </a:p>
          <a:p>
            <a:r>
              <a:t>(Switch to the browser. Full click path and fallbacks are in demo.md.)</a:t>
            </a:r>
          </a:p>
          <a:p>
            <a:r>
              <a:t>1:10 Home page. Type "603 E South Temple", the Governor's Mansion. Pick it.</a:t>
            </a:r>
          </a:p>
          <a:p>
            <a:r>
              <a:t>1:20 This is the 2024 aerial photo. Green is lawn, dark green is trees, red is buildings. 11,000</a:t>
            </a:r>
          </a:p>
          <a:p>
            <a:r>
              <a:t>square feet of lawn, confidence high. If we got a shape wrong, you tap it, and that correction</a:t>
            </a:r>
          </a:p>
          <a:p>
            <a:r>
              <a:t>trains the model.</a:t>
            </a:r>
          </a:p>
          <a:p>
            <a:r>
              <a:t>1:35 What it needs: about 29 inches a season in Salt Lake's weather, 200,000 gallons a year.</a:t>
            </a:r>
          </a:p>
          <a:p>
            <a:r>
              <a:t>1:45 Add the bill: upload the photo. Claude reads twelve months in about five seconds:</a:t>
            </a:r>
          </a:p>
          <a:p>
            <a:r>
              <a:t>119,000 gallons a year more than this lawn needs.</a:t>
            </a:r>
          </a:p>
          <a:p>
            <a:r>
              <a:t>2:00 Build my watering plan: pick spray heads and a basic timer. One thing to do, gallons saved,</a:t>
            </a:r>
          </a:p>
          <a:p>
            <a:r>
              <a:t>and a month-by-month schedule.</a:t>
            </a:r>
          </a:p>
          <a:p>
            <a:r>
              <a:t>2:10 Subscribe to the calendar, or let the controller follow it. This week the state guide says</a:t>
            </a:r>
          </a:p>
          <a:p>
            <a:r>
              <a:t>no watering, so our connector switched the OpenSprinkler program off. In July, it's Monday,</a:t>
            </a:r>
          </a:p>
          <a:p>
            <a:r>
              <a:t>Wednesday, Friday at 5 a.m., four short cycles per zone.</a:t>
            </a:r>
          </a:p>
          <a:p>
            <a:r>
              <a:t>2:40 Go native: the before and after, the plants, the designers to call.</a:t>
            </a:r>
          </a:p>
          <a:p>
            <a:r>
              <a:t>2:48 The rebate: up to $33,000 here, from Central Utah Water Conservancy District, with the city</a:t>
            </a:r>
          </a:p>
          <a:p>
            <a:r>
              <a:t>and water district this lot is in.</a:t>
            </a:r>
          </a:p>
          <a:p>
            <a:r>
              <a:t>2:55 (Only if the warm-up worked.) And any address in Utah gets measured live, like this one in</a:t>
            </a:r>
          </a:p>
          <a:p>
            <a:r>
              <a:t>St. George.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[3:00–3:10]</a:t>
            </a:r>
          </a:p>
          <a:p>
            <a:r>
              <a:t>It's live: twelve thousand eight hundred lots precomputed, any address in all 29 counties</a:t>
            </a:r>
          </a:p>
          <a:p>
            <a:r>
              <a:t>measured on demand, and it tracks the state's own Greenspace model lot by 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[3:10–3:40]</a:t>
            </a:r>
          </a:p>
          <a:p>
            <a:r>
              <a:t>Under the hood: 60-centimeter aerial imagery, haze-corrected NDVI to find what's growing, Meta's</a:t>
            </a:r>
          </a:p>
          <a:p>
            <a:r>
              <a:t>LiDAR tree heights to pull out trees, and building footprints, all computed in the browser and</a:t>
            </a:r>
          </a:p>
          <a:p>
            <a:r>
              <a:t>on Cloudflare's edge. Then local weather and the FAO-56 method give what the lawn needs, tied to</a:t>
            </a:r>
          </a:p>
          <a:p>
            <a:r>
              <a:t>the state's weekly guide. And we close the loop: a calendar and API the sprinkler controller</a:t>
            </a:r>
          </a:p>
          <a:p>
            <a:r>
              <a:t>follows. Claude reads bills to measure the result, and every correction trains our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[3:40–3:52]</a:t>
            </a:r>
          </a:p>
          <a:p>
            <a:r>
              <a:t>Water is energy: 650 kilowatt-hours an acre-foot. Just the neighborhoods we've measured waste</a:t>
            </a:r>
          </a:p>
          <a:p>
            <a:r>
              <a:t>about a third of a data-center campus's water. Statewide, it's about a hundred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[3:52–4:15]</a:t>
            </a:r>
          </a:p>
          <a:p>
            <a:r>
              <a:t>Who pays? Water districts first: they already spend on rebate outreach, and we hand them the</a:t>
            </a:r>
          </a:p>
          <a:p>
            <a:r>
              <a:t>lots with the most to save, proven with a metered pilot. Then data centers, which now need</a:t>
            </a:r>
          </a:p>
          <a:p>
            <a:r>
              <a:t>offsets: we're the verification layer that turns their money into real acre-feet. Homeowners are</a:t>
            </a:r>
          </a:p>
          <a:p>
            <a:r>
              <a:t>the distribution and the ground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[4:15–4:40]</a:t>
            </a:r>
          </a:p>
          <a:p>
            <a:r>
              <a:t>Ten thousand dollars takes it statewide: every Utah lot precomputed, a trained lawn model, a</a:t>
            </a:r>
          </a:p>
          <a:p>
            <a:r>
              <a:t>district pilot with real meter data, and integrations with the big smart controllers. It's</a:t>
            </a:r>
          </a:p>
          <a:p>
            <a:r>
              <a:t>already live, and the state's GIS team shared their data with us to validate it.</a:t>
            </a:r>
          </a:p>
          <a:p>
            <a:r>
              <a:t>(DRAFT split: Adam to confirm the dollar amounts and the outreach line before presenting.)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[4:40–5:00]</a:t>
            </a:r>
          </a:p>
          <a:p>
            <a:r>
              <a:t>So: ten thousand dollars to go statewide and run a district pilot, and introductions to a water</a:t>
            </a:r>
          </a:p>
          <a:p>
            <a:r>
              <a:t>district and a data-center sustainability team. And right now, take out your phone and type</a:t>
            </a:r>
          </a:p>
          <a:p>
            <a:r>
              <a:t>your address at overwater.ing.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Only if the live demo fails. Each following slide matches one demo step in demo.md.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1:10]</a:t>
            </a:r>
          </a:p>
          <a:p>
            <a:r>
              <a:t>Type 603 E South Temple and pick the first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1:20]</a:t>
            </a:r>
          </a:p>
          <a:p>
            <a:r>
              <a:t>11,141 sq ft of lawn on the Governor's Mansion lot, confidence high, about 29 inches and 200,000 gallons a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1:45]</a:t>
            </a:r>
          </a:p>
          <a:p>
            <a:r>
              <a:t>Upload the sample bill. Claude reads twelve months; the page shows the overwatering gap and the one change to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2:00]</a:t>
            </a:r>
          </a:p>
          <a:p>
            <a:r>
              <a:t>The single change with the most gallons saved, then the month-by-month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2:05]</a:t>
            </a:r>
          </a:p>
          <a:p>
            <a:r>
              <a:t>Deep and infrequent, split into short cycles so it soaks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2:10]</a:t>
            </a:r>
          </a:p>
          <a:p>
            <a:r>
              <a:t>Subscribe once; each watering day shows up at 5 a.m. with run times, and skip weeks clear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2:20]</a:t>
            </a:r>
          </a:p>
          <a:p>
            <a:r>
              <a:t>OpenSprinkler firmware in demo mode, set by our connector. This week the guide says no watering, so the program</a:t>
            </a:r>
          </a:p>
          <a:p>
            <a:r>
              <a:t>is switched off. Preview a July week and it's Monday, Wednesday, Friday at 5 a.m., four 7-minute cycles per zone.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2:30]</a:t>
            </a:r>
          </a:p>
          <a:p>
            <a:r>
              <a:t>Same schedule as plain JSON, no key, no address in the URL.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2:40]</a:t>
            </a:r>
          </a:p>
          <a:p>
            <a:r>
              <a:t>About 145,000 gallons a year saved if this lawn becomes water-wise landscape.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2:48]</a:t>
            </a:r>
          </a:p>
          <a:p>
            <a:r>
              <a:t>Up to $33,423 from Central Utah Water Conservancy District, Salt Lake City, plus the $100 smart controller rebate.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2:55]</a:t>
            </a:r>
          </a:p>
          <a:p>
            <a:r>
              <a:t>Any Utah address is measured live in the browser in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What a district sees: lawn, need, likely overwatering and savings for a whole neighborhood.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The same numbers as slide 9, live on the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[reference]</a:t>
            </a:r>
          </a:p>
          <a:p>
            <a:r>
              <a:t>Sources for every number in the deck. Saved water can increase potential flows to the lake; it may be reused upstream.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822960"/>
            <a:ext cx="5669280" cy="4429125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1560"/>
            <a:ext cx="118872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65960" y="1298448"/>
            <a:ext cx="5486400" cy="8412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4600" b="1" i="0">
                <a:solidFill>
                  <a:srgbClr val="12324A"/>
                </a:solidFill>
                <a:latin typeface="Fredoka"/>
              </a:rPr>
              <a:t>Overwater</a:t>
            </a:r>
            <a:r>
              <a:rPr sz="4600" b="1" i="0">
                <a:solidFill>
                  <a:srgbClr val="1F86D6"/>
                </a:solidFill>
                <a:latin typeface="Fredoka"/>
              </a:rPr>
              <a:t>.ing</a:t>
            </a:r>
            <a:r>
              <a:rPr sz="4600" b="1" i="0">
                <a:solidFill>
                  <a:srgbClr val="F0A92A"/>
                </a:solidFill>
                <a:latin typeface="Fredok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06040"/>
            <a:ext cx="5852160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12324A"/>
                </a:solidFill>
                <a:latin typeface="Fredoka"/>
              </a:rPr>
              <a:t>Is your lawn getting more water than it needs?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160520"/>
            <a:ext cx="5486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 i="0">
                <a:solidFill>
                  <a:srgbClr val="4F6B80"/>
                </a:solidFill>
                <a:latin typeface="Nunito"/>
              </a:rPr>
              <a:t>Every lawn in Utah, measured from the air. What it really needs, sent to the sprinkler controller.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715000"/>
            <a:ext cx="58521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24A"/>
                </a:solidFill>
                <a:latin typeface="Nunito"/>
              </a:rPr>
              <a:t>Adam Fortuna</a:t>
            </a:r>
            <a:r>
              <a:rPr sz="1600" b="0" i="0">
                <a:solidFill>
                  <a:srgbClr val="12324A"/>
                </a:solidFill>
                <a:latin typeface="Nunito"/>
              </a:rPr>
              <a:t>  ·  overwater.ing  ·  Nucleus × Startup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HOW I GOT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It started over a pint.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JULY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Perspectives Over Pints, Fisher Brewing.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The Yard Farmer gave the talk.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6344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THAT NIGHT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Most of our water goes on grass.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And Utah will pay you to replace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6676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NOVEMBER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Our own yard consult is booked.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So: how much lawn do I actually have?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846320"/>
            <a:ext cx="73152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12324A"/>
                </a:solidFill>
                <a:latin typeface="Nunito"/>
              </a:rPr>
              <a:t>Nobody could tell me. </a:t>
            </a:r>
            <a:r>
              <a:rPr sz="2400" b="0" i="0">
                <a:solidFill>
                  <a:srgbClr val="12324A"/>
                </a:solidFill>
                <a:latin typeface="Nunito"/>
              </a:rPr>
              <a:t>Not for my lot, and not for any lot in Utah.</a:t>
            </a:r>
          </a:p>
        </p:txBody>
      </p:sp>
      <p:pic>
        <p:nvPicPr>
          <p:cNvPr id="17" name="Picture 16" descr="gr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4526280"/>
            <a:ext cx="1463040" cy="1671523"/>
          </a:xfrm>
          <a:prstGeom prst="rect">
            <a:avLst/>
          </a:prstGeom>
        </p:spPr>
      </p:pic>
      <p:pic>
        <p:nvPicPr>
          <p:cNvPr id="18" name="Picture 17" descr="d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166360"/>
            <a:ext cx="566928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Utah's water goes on the yard.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4206240" cy="1341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8800" b="1" i="0">
                <a:solidFill>
                  <a:srgbClr val="1F86D6"/>
                </a:solidFill>
                <a:latin typeface="Fredoka"/>
              </a:rPr>
              <a:t>~60%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398520"/>
            <a:ext cx="420624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12324A"/>
                </a:solidFill>
                <a:latin typeface="Nunito"/>
              </a:rPr>
              <a:t>of Utah's city water is used outdoors, mostly on grass.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011680"/>
            <a:ext cx="4206240" cy="1341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8800" b="1" i="0">
                <a:solidFill>
                  <a:srgbClr val="E5533F"/>
                </a:solidFill>
                <a:latin typeface="Fredoka"/>
              </a:rPr>
              <a:t>96%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3398520"/>
            <a:ext cx="420624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12324A"/>
                </a:solidFill>
                <a:latin typeface="Nunito"/>
              </a:rPr>
              <a:t>of what cities use up is outdoor water. Indoor water goes back to the river.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892040"/>
            <a:ext cx="8229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F86D6"/>
                </a:solidFill>
                <a:latin typeface="Nunito"/>
              </a:rPr>
              <a:t>500,993 acre-feet a year </a:t>
            </a:r>
            <a:r>
              <a:rPr sz="2200" b="0" i="0">
                <a:solidFill>
                  <a:srgbClr val="12324A"/>
                </a:solidFill>
                <a:latin typeface="Nunito"/>
              </a:rPr>
              <a:t>on Utah's residential yards alone.</a:t>
            </a:r>
          </a:p>
        </p:txBody>
      </p:sp>
      <p:pic>
        <p:nvPicPr>
          <p:cNvPr id="9" name="Picture 8" descr="sprink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2148840"/>
            <a:ext cx="3017520" cy="2209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Sources: USU Extension citing Utah DWR (60%, 500,993 AF/yr, 2021 data); USU Institute for Land, Water &amp; Air, 2025 (96% of M&amp;I depletion); Utah DWR GSL Basin M&amp;I report, Aug 2025.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The lake is short. Now AI wants water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21208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GREAT SALT LAKE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47548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6400" b="1" i="0">
                <a:solidFill>
                  <a:srgbClr val="E5533F"/>
                </a:solidFill>
                <a:latin typeface="Fredoka"/>
              </a:rPr>
              <a:t>4,190.4 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657600"/>
            <a:ext cx="47548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12324A"/>
                </a:solidFill>
                <a:latin typeface="Nunito"/>
              </a:rPr>
              <a:t>August 2026. The healthy range starts at 4,198 ft.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343400"/>
            <a:ext cx="47548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471,000–1,055,000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more acre-feet a year to get it 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30352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UTAH'S AI BUILD-OUT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560320"/>
            <a:ext cx="210312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6400" b="1" i="0">
                <a:solidFill>
                  <a:srgbClr val="1F86D6"/>
                </a:solidFill>
                <a:latin typeface="Fredoka"/>
              </a:rPr>
              <a:t>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697480"/>
            <a:ext cx="35661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12324A"/>
                </a:solidFill>
                <a:latin typeface="Nunito"/>
              </a:rPr>
              <a:t>data centers operating in Utah today.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657600"/>
            <a:ext cx="4846320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Executive Order 2026-03: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new data centers may not add to the lake's depletion.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One proposed campus in Box Elder County: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~987 acre-feet a year.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669280"/>
            <a:ext cx="107899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Every new megawatt has to find its water somewhere. The biggest place to find it is the yard.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Sources: Utah News Dispatch / USGS gauge (lake level); GSL Strategic Plan (inflow need); Utah Exec. Order 2026-03 (May 29, 2026); Deseret News, Aug 19 2026 (48 data centers); SL Tribune, Oct 20 2026 (Stratos project estimate, net depletion).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Utah pays to fix it. It can't see the yards.</a:t>
            </a:r>
          </a:p>
        </p:txBody>
      </p:sp>
      <p:pic>
        <p:nvPicPr>
          <p:cNvPr id="4" name="Picture 3" descr="co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1143000" cy="114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48840" y="20574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4800" b="1" i="0">
                <a:solidFill>
                  <a:srgbClr val="C27C00"/>
                </a:solidFill>
                <a:latin typeface="Fredoka"/>
              </a:rPr>
              <a:t>$1.50–$3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288036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12324A"/>
                </a:solidFill>
                <a:latin typeface="Nunito"/>
              </a:rPr>
              <a:t>per square foot of lawn you replace (Utah Water Savers).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86200"/>
            <a:ext cx="53035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12324A"/>
                </a:solidFill>
                <a:latin typeface="Nunito"/>
              </a:rPr>
              <a:t>~3 million sq ft converted in 2024, </a:t>
            </a:r>
            <a:r>
              <a:rPr sz="1900" b="0" i="0">
                <a:solidFill>
                  <a:srgbClr val="12324A"/>
                </a:solidFill>
                <a:latin typeface="Nunito"/>
              </a:rPr>
              <a:t>&gt;$7M paid.</a:t>
            </a:r>
          </a:p>
        </p:txBody>
      </p:sp>
      <p:pic>
        <p:nvPicPr>
          <p:cNvPr id="8" name="Picture 7" descr="sprinkler-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103120"/>
            <a:ext cx="1005840" cy="12573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0" y="20574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4800" b="1" i="0">
                <a:solidFill>
                  <a:srgbClr val="E5533F"/>
                </a:solidFill>
                <a:latin typeface="Fredoka"/>
              </a:rPr>
              <a:t>About half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880360"/>
            <a:ext cx="384048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12324A"/>
                </a:solidFill>
                <a:latin typeface="Nunito"/>
              </a:rPr>
              <a:t>of Utahns overwater (BYU, aerial imagery + water bills).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800600"/>
            <a:ext cx="10835640" cy="1143000"/>
          </a:xfrm>
          <a:prstGeom prst="roundRect">
            <a:avLst>
              <a:gd name="adj" fmla="val 15000"/>
            </a:avLst>
          </a:prstGeom>
          <a:solidFill>
            <a:srgbClr val="DF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0120" y="4846320"/>
            <a:ext cx="10332720" cy="10515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2324A"/>
                </a:solidFill>
                <a:latin typeface="Fredoka"/>
              </a:rPr>
              <a:t>But nobody knows, lot by lot, how much lawn there is or how much water it really needs.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Sources: Utah Water Savers program rates (checked Oct 27 2026); Utah DWR turf buyback results 2024; Sowby et al., BYU 2022.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LIVE DEMO · OVERWATER.ING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Type any Utah address.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82112" y="1810511"/>
            <a:ext cx="7223759" cy="456285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03-l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874519"/>
            <a:ext cx="7095744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1965960"/>
            <a:ext cx="2377440" cy="4206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1F86D6"/>
                </a:solidFill>
                <a:latin typeface="Fredoka"/>
              </a:rPr>
              <a:t>1</a:t>
            </a:r>
            <a:r>
              <a:rPr sz="1900" b="1" i="0">
                <a:solidFill>
                  <a:srgbClr val="12324A"/>
                </a:solidFill>
                <a:latin typeface="Nunito"/>
              </a:rPr>
              <a:t>  Find the lawn</a:t>
            </a:r>
          </a:p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1F86D6"/>
                </a:solidFill>
                <a:latin typeface="Fredoka"/>
              </a:rPr>
              <a:t>2</a:t>
            </a:r>
            <a:r>
              <a:rPr sz="1900" b="1" i="0">
                <a:solidFill>
                  <a:srgbClr val="12324A"/>
                </a:solidFill>
                <a:latin typeface="Nunito"/>
              </a:rPr>
              <a:t>  What it needs</a:t>
            </a:r>
          </a:p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1F86D6"/>
                </a:solidFill>
                <a:latin typeface="Fredoka"/>
              </a:rPr>
              <a:t>3</a:t>
            </a:r>
            <a:r>
              <a:rPr sz="1900" b="1" i="0">
                <a:solidFill>
                  <a:srgbClr val="12324A"/>
                </a:solidFill>
                <a:latin typeface="Nunito"/>
              </a:rPr>
              <a:t>  Read the bill</a:t>
            </a:r>
          </a:p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1F86D6"/>
                </a:solidFill>
                <a:latin typeface="Fredoka"/>
              </a:rPr>
              <a:t>4</a:t>
            </a:r>
            <a:r>
              <a:rPr sz="1900" b="1" i="0">
                <a:solidFill>
                  <a:srgbClr val="12324A"/>
                </a:solidFill>
                <a:latin typeface="Nunito"/>
              </a:rPr>
              <a:t>  Watering plan</a:t>
            </a:r>
          </a:p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1F86D6"/>
                </a:solidFill>
                <a:latin typeface="Fredoka"/>
              </a:rPr>
              <a:t>5</a:t>
            </a:r>
            <a:r>
              <a:rPr sz="1900" b="1" i="0">
                <a:solidFill>
                  <a:srgbClr val="12324A"/>
                </a:solidFill>
                <a:latin typeface="Nunito"/>
              </a:rPr>
              <a:t>  The controller</a:t>
            </a:r>
          </a:p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1F86D6"/>
                </a:solidFill>
                <a:latin typeface="Fredoka"/>
              </a:rPr>
              <a:t>6</a:t>
            </a:r>
            <a:r>
              <a:rPr sz="1900" b="1" i="0">
                <a:solidFill>
                  <a:srgbClr val="12324A"/>
                </a:solidFill>
                <a:latin typeface="Nunito"/>
              </a:rPr>
              <a:t>  Go native</a:t>
            </a:r>
          </a:p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1F86D6"/>
                </a:solidFill>
                <a:latin typeface="Fredoka"/>
              </a:rPr>
              <a:t>7</a:t>
            </a:r>
            <a:r>
              <a:rPr sz="1900" b="1" i="0">
                <a:solidFill>
                  <a:srgbClr val="12324A"/>
                </a:solidFill>
                <a:latin typeface="Nunito"/>
              </a:rPr>
              <a:t>  The rebate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Live, statewide, and checked against the state.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5740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28600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1F86D6"/>
                </a:solidFill>
                <a:latin typeface="Fredoka"/>
              </a:rPr>
              <a:t>12,791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337560"/>
            <a:ext cx="2926080" cy="1554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lots precomputed in six Salt Lake City and Sandy neighborhoods: 319 acres of lawn.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05740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63440" y="228600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2C9A4B"/>
                </a:solidFill>
                <a:latin typeface="Fredoka"/>
              </a:rPr>
              <a:t>29 /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337560"/>
            <a:ext cx="2926080" cy="1554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Utah counties searchable. Any other address is measured live in the browser.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205740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66760" y="228600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E5533F"/>
                </a:solidFill>
                <a:latin typeface="Fredoka"/>
              </a:rPr>
              <a:t>r = 0.77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337560"/>
            <a:ext cx="2926080" cy="1554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per-lot agreement with the state's Greenspace model (3,104 lots, median ratio 0.97).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257800"/>
            <a:ext cx="10789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Built on real data: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USDA aerial imagery, county parcels, Meta tree heights, gridMET weather, Utah Water Savers rebates, and Claude reading real bills.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Greenspace comparison: Utah DWRe Greenspace 2024 (NDVI ≥ 0.15) vs. our lawn + tree canopy for ZIP 84102: 189.2 vs 170.2 acres. Data shared by Jack Hinzman, Senior GIS Analyst, DWRe. Method: RESULTS.md, Run 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HARD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From satellite pixels to the sprinkler valve.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57400"/>
            <a:ext cx="1280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F86D6"/>
                </a:solidFill>
                <a:latin typeface="Nunito"/>
              </a:rPr>
              <a:t>SEE THE LAWN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48840" y="187451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1F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2221992" y="192023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NAIP aerial imagery, 60 cm, 4 bands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34993" y="2286000"/>
            <a:ext cx="201168" cy="182880"/>
          </a:xfrm>
          <a:prstGeom prst="rightArrow">
            <a:avLst/>
          </a:prstGeom>
          <a:solidFill>
            <a:srgbClr val="1F8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081881" y="187451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1F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155033" y="192023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Haze-corrected NDVI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768035" y="2286000"/>
            <a:ext cx="201168" cy="182880"/>
          </a:xfrm>
          <a:prstGeom prst="rightArrow">
            <a:avLst/>
          </a:prstGeom>
          <a:solidFill>
            <a:srgbClr val="1F8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14923" y="187451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1F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088075" y="192023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Meta LiDAR-derived tree heights (COG range reads)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701076" y="2286000"/>
            <a:ext cx="201168" cy="182880"/>
          </a:xfrm>
          <a:prstGeom prst="rightArrow">
            <a:avLst/>
          </a:prstGeom>
          <a:solidFill>
            <a:srgbClr val="1F8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47964" y="187451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1F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021116" y="192023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Building footprints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634118" y="2286000"/>
            <a:ext cx="201168" cy="182880"/>
          </a:xfrm>
          <a:prstGeom prst="rightArrow">
            <a:avLst/>
          </a:prstGeom>
          <a:solidFill>
            <a:srgbClr val="1F8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81006" y="187451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1F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954158" y="192023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Turf polygons per 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383280"/>
            <a:ext cx="1280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C9A4B"/>
                </a:solidFill>
                <a:latin typeface="Nunito"/>
              </a:rPr>
              <a:t>KNOW THE NEED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48840" y="3200400"/>
            <a:ext cx="2123694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2C9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221992" y="3246120"/>
            <a:ext cx="197738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gridMET reference ET, every county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318253" y="3611880"/>
            <a:ext cx="201168" cy="182880"/>
          </a:xfrm>
          <a:prstGeom prst="rightArrow">
            <a:avLst/>
          </a:prstGeom>
          <a:solidFill>
            <a:srgbClr val="2C9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65142" y="3200400"/>
            <a:ext cx="2123694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2C9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638294" y="3246120"/>
            <a:ext cx="197738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FAO-56 turf water need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734555" y="3611880"/>
            <a:ext cx="201168" cy="182880"/>
          </a:xfrm>
          <a:prstGeom prst="rightArrow">
            <a:avLst/>
          </a:prstGeom>
          <a:solidFill>
            <a:srgbClr val="2C9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81444" y="3200400"/>
            <a:ext cx="2123694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2C9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054596" y="3246120"/>
            <a:ext cx="197738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State Weekly Lawn Watering Guide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150858" y="3611880"/>
            <a:ext cx="201168" cy="182880"/>
          </a:xfrm>
          <a:prstGeom prst="rightArrow">
            <a:avLst/>
          </a:prstGeom>
          <a:solidFill>
            <a:srgbClr val="2C9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397745" y="3200400"/>
            <a:ext cx="2123694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2C9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470897" y="3246120"/>
            <a:ext cx="197738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Month-by-month schedule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4709159"/>
            <a:ext cx="1280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5533F"/>
                </a:solidFill>
                <a:latin typeface="Nunito"/>
              </a:rPr>
              <a:t>CLOSE THE LOOP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48840" y="452627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E55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221992" y="457199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Open API + watering calendar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3834993" y="4937759"/>
            <a:ext cx="201168" cy="182880"/>
          </a:xfrm>
          <a:prstGeom prst="rightArrow">
            <a:avLst/>
          </a:prstGeom>
          <a:solidFill>
            <a:srgbClr val="E55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081881" y="452627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E55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155033" y="457199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Sprinkler controller (OpenSprinkler now, Rachio next)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5768035" y="4937759"/>
            <a:ext cx="201168" cy="182880"/>
          </a:xfrm>
          <a:prstGeom prst="rightArrow">
            <a:avLst/>
          </a:prstGeom>
          <a:solidFill>
            <a:srgbClr val="E55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014923" y="452627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E55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088075" y="457199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Claude reads water bills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7701076" y="4937759"/>
            <a:ext cx="201168" cy="182880"/>
          </a:xfrm>
          <a:prstGeom prst="rightArrow">
            <a:avLst/>
          </a:prstGeom>
          <a:solidFill>
            <a:srgbClr val="E55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947964" y="452627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E55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021116" y="457199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Your corrections = labels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9634118" y="4937759"/>
            <a:ext cx="201168" cy="182880"/>
          </a:xfrm>
          <a:prstGeom prst="rightArrow">
            <a:avLst/>
          </a:prstGeom>
          <a:solidFill>
            <a:srgbClr val="E55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881006" y="452627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E55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954158" y="457199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Trained lawn segmentation model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852160"/>
            <a:ext cx="107899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24A"/>
                </a:solidFill>
                <a:latin typeface="Nunito"/>
              </a:rPr>
              <a:t>Runs in the browser and on Cloudflare's edge. </a:t>
            </a:r>
            <a:r>
              <a:rPr sz="1600" b="0" i="0">
                <a:solidFill>
                  <a:srgbClr val="12324A"/>
                </a:solidFill>
                <a:latin typeface="Nunito"/>
              </a:rPr>
              <a:t>No GIS desktop, no per-lot cost: a new address is measured in seconds.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WHY IT'S AN ENERGY AND AI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Saved water is saved power, and AI headroom.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0312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33172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1F86D6"/>
                </a:solidFill>
                <a:latin typeface="Fredoka"/>
              </a:rPr>
              <a:t>650 kWh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383280"/>
            <a:ext cx="292608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to pump and treat every acre-foot. Small per home, big at state scale.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10312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63440" y="233172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E5533F"/>
                </a:solidFill>
                <a:latin typeface="Fredoka"/>
              </a:rPr>
              <a:t>~372 AF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383280"/>
            <a:ext cx="292608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a year the grass in our measured neighborhoods never needed: 242 MWh, ~38% of one data-center campus.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210312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66760" y="233172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2C9A4B"/>
                </a:solidFill>
                <a:latin typeface="Fredoka"/>
              </a:rPr>
              <a:t>~100×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383280"/>
            <a:ext cx="292608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a large AI data center's water, if a fifth of Utah's yard water is waste: ~100,000 AF and 65 GWh a year.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03520"/>
            <a:ext cx="10789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Verified yard savings are how Utah grows AI without draining the lake.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Live at overwater.ing/impact.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Our neighborhoods: 12,791 lots, grass needs ~775 AF/yr; assumes half of homes overwater (BYU) on a July schedule all season. State: a fifth of 500,993 AF/yr (USU/DWR). EPRI via ACEEE (650 kWh/AF); EIA 2024 (0.60 kg CO₂/kWh); SL Tribune Oct 20 2026 (Stratos ~987 AF/yr estimate). Saved water can increase potential flows to the lake; it may be reused upstream.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PATH TO REALITY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Three customers, in order.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342900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prinkler-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48840"/>
            <a:ext cx="636729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2148840"/>
            <a:ext cx="219456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86D6"/>
                </a:solidFill>
                <a:latin typeface="Fredok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51760"/>
            <a:ext cx="23774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2324A"/>
                </a:solidFill>
                <a:latin typeface="Fredoka"/>
              </a:rPr>
              <a:t>Water districts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200400"/>
            <a:ext cx="2926080" cy="2103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0" i="0">
                <a:solidFill>
                  <a:srgbClr val="12324A"/>
                </a:solidFill>
                <a:latin typeface="Nunito"/>
              </a:rPr>
              <a:t>They already spend on rebate outreach. We hand them a ranked list of the lots with the most lawn to replace and the biggest savings.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5440680"/>
            <a:ext cx="292608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F86D6"/>
                </a:solidFill>
                <a:latin typeface="Nunito"/>
              </a:rPr>
              <a:t>Pilot: one district, metered before and after.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965960"/>
            <a:ext cx="342900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d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2148840"/>
            <a:ext cx="57912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63440" y="2148840"/>
            <a:ext cx="219456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86D6"/>
                </a:solidFill>
                <a:latin typeface="Fredok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51760"/>
            <a:ext cx="23774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2324A"/>
                </a:solidFill>
                <a:latin typeface="Fredoka"/>
              </a:rPr>
              <a:t>Data centers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200400"/>
            <a:ext cx="2926080" cy="2103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0" i="0">
                <a:solidFill>
                  <a:srgbClr val="12324A"/>
                </a:solidFill>
                <a:latin typeface="Nunito"/>
              </a:rPr>
              <a:t>EO 2026-03 means new campuses need offsets. We're the lot-by-lot measurement, reporting and verification layer that turns their money into verified acre-feet.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5440680"/>
            <a:ext cx="292608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F86D6"/>
                </a:solidFill>
                <a:latin typeface="Nunito"/>
              </a:rPr>
              <a:t>Turf conversions + controller schedules.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965960"/>
            <a:ext cx="342900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gra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2148840"/>
            <a:ext cx="760333" cy="868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2148840"/>
            <a:ext cx="219456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86D6"/>
                </a:solidFill>
                <a:latin typeface="Fredok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51760"/>
            <a:ext cx="23774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2324A"/>
                </a:solidFill>
                <a:latin typeface="Fredoka"/>
              </a:rPr>
              <a:t>Homeowners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200400"/>
            <a:ext cx="2926080" cy="2103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0" i="0">
                <a:solidFill>
                  <a:srgbClr val="12324A"/>
                </a:solidFill>
                <a:latin typeface="Nunito"/>
              </a:rPr>
              <a:t>They're the distribution and the ground truth. Every correction they make is a label.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5440680"/>
            <a:ext cx="292608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F86D6"/>
                </a:solidFill>
                <a:latin typeface="Nunito"/>
              </a:rPr>
              <a:t>Never ranked, never shared.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Districts already named on the site: Central Utah, Jordan Valley, Weber Basin, Washington County, and the statewide program.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What $10K unlocks.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18288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1F86D6"/>
                </a:solidFill>
                <a:latin typeface="Fredoka"/>
              </a:rPr>
              <a:t>$3,000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600" y="1920240"/>
            <a:ext cx="45720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Every Utah lot, precomputed and hosted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88920"/>
            <a:ext cx="18288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2C9A4B"/>
                </a:solidFill>
                <a:latin typeface="Fredoka"/>
              </a:rPr>
              <a:t>$3,000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788920"/>
            <a:ext cx="45720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Train the lawn segmentation model on app labels + the state's Greenspace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57600"/>
            <a:ext cx="18288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E5533F"/>
                </a:solidFill>
                <a:latin typeface="Fredoka"/>
              </a:rPr>
              <a:t>$2,500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3657600"/>
            <a:ext cx="45720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A district pilot with real meter data, before and 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26279"/>
            <a:ext cx="18288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C27C00"/>
                </a:solidFill>
                <a:latin typeface="Fredoka"/>
              </a:rPr>
              <a:t>$1,500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4526279"/>
            <a:ext cx="45720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Controller integrations: Rachio and Hydrawise partner access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43800" y="1920240"/>
            <a:ext cx="3977639" cy="4023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818120" y="2103120"/>
            <a:ext cx="34747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ALREADY IN MOTION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560320"/>
            <a:ext cx="3474720" cy="3291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 i="0">
                <a:solidFill>
                  <a:srgbClr val="12324A"/>
                </a:solidFill>
                <a:latin typeface="Nunito"/>
              </a:rPr>
              <a:t>Live at overwater.ing</a:t>
            </a:r>
            <a:r>
              <a:rPr sz="1600" b="0" i="0">
                <a:solidFill>
                  <a:srgbClr val="12324A"/>
                </a:solidFill>
                <a:latin typeface="Nunito"/>
              </a:rPr>
              <a:t>, any Utah address.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 i="0">
                <a:solidFill>
                  <a:srgbClr val="12324A"/>
                </a:solidFill>
                <a:latin typeface="Nunito"/>
              </a:rPr>
              <a:t>Utah DWRe GIS </a:t>
            </a:r>
            <a:r>
              <a:rPr sz="1600" b="0" i="0">
                <a:solidFill>
                  <a:srgbClr val="12324A"/>
                </a:solidFill>
                <a:latin typeface="Nunito"/>
              </a:rPr>
              <a:t>shared the state's Greenspace model; we validated against it.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 i="0">
                <a:solidFill>
                  <a:srgbClr val="E5533F"/>
                </a:solidFill>
                <a:latin typeface="Nunito"/>
              </a:rPr>
              <a:t>[Confirm with Adam] </a:t>
            </a:r>
            <a:r>
              <a:rPr sz="1600" b="0" i="0">
                <a:solidFill>
                  <a:srgbClr val="12324A"/>
                </a:solidFill>
                <a:latin typeface="Nunito"/>
              </a:rPr>
              <a:t>Outreach to districts and controller makers going out this week.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22855"/>
            <a:ext cx="12191695" cy="22351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7315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7498079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800" b="1" i="0">
                <a:solidFill>
                  <a:srgbClr val="12324A"/>
                </a:solidFill>
                <a:latin typeface="Fredoka"/>
              </a:rPr>
              <a:t>Type your address at overwater.ing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731520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 i="0">
                <a:solidFill>
                  <a:srgbClr val="1F86D6"/>
                </a:solidFill>
                <a:latin typeface="Nunito"/>
              </a:rPr>
              <a:t>$10K </a:t>
            </a:r>
            <a:r>
              <a:rPr sz="2000" b="0" i="0">
                <a:solidFill>
                  <a:srgbClr val="12324A"/>
                </a:solidFill>
                <a:latin typeface="Nunito"/>
              </a:rPr>
              <a:t>to go statewide and run the first district pilot.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 i="0">
                <a:solidFill>
                  <a:srgbClr val="1F86D6"/>
                </a:solidFill>
                <a:latin typeface="Nunito"/>
              </a:rPr>
              <a:t>Intros </a:t>
            </a:r>
            <a:r>
              <a:rPr sz="2000" b="0" i="0">
                <a:solidFill>
                  <a:srgbClr val="12324A"/>
                </a:solidFill>
                <a:latin typeface="Nunito"/>
              </a:rPr>
              <a:t>to a water district's conservation team and a data-center sustainability lead.</a:t>
            </a:r>
          </a:p>
        </p:txBody>
      </p:sp>
      <p:pic>
        <p:nvPicPr>
          <p:cNvPr id="6" name="Picture 5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777240"/>
            <a:ext cx="2377440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15400" y="3200400"/>
            <a:ext cx="23774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Fredoka"/>
              </a:rPr>
              <a:t>overwater.ing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377440"/>
            <a:ext cx="1078992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12324A"/>
                </a:solidFill>
                <a:latin typeface="Fredoka"/>
              </a:rPr>
              <a:t>Backup: the demo, step by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429000"/>
            <a:ext cx="107899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4F6B80"/>
                </a:solidFill>
                <a:latin typeface="Nunito"/>
              </a:rPr>
              <a:t>If the Wi-Fi fails, click through these instead. Same order as the live demo.</a:t>
            </a:r>
          </a:p>
        </p:txBody>
      </p:sp>
      <p:pic>
        <p:nvPicPr>
          <p:cNvPr id="4" name="Picture 3" descr="sprinkler-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206240"/>
            <a:ext cx="128016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1 · Any Utah address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2-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Search covers parcels in all 29 counties.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2 · The lawn, from the air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3-l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2024 USDA imagery at 0.6 m. Green = lawn, dark green = trees, red = buildings. Tap a shape to correct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3 · Claude reads the bill: 119,272 gallons over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4-bi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320,914 gallons a year outdoors against the 201,642 this lawn needs. Read from a photo of the bill in about 5 seconds.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One thing to do, and how much it saves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5-watering-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Spray heads + a basic timer, Salt Lake City weather.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The schedule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5-watering-schedu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Days a week and cycle-and-soak minutes per zone, from local reference 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5 · Subscribe to the watering calendar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6-calend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Follows Utah's Weekly Lawn Watering Guide. This week: no watering in Salt Lake County.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6 · The controller follows the state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2120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E5533F"/>
                </a:solidFill>
                <a:latin typeface="Fredoka"/>
              </a:rPr>
              <a:t>This week: 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143000"/>
            <a:ext cx="52120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C9A4B"/>
                </a:solidFill>
                <a:latin typeface="Fredoka"/>
              </a:rPr>
              <a:t>A July week: 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719072"/>
            <a:ext cx="5248655" cy="17922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06-os-paused-full-enab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120640" cy="166420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45352" y="1719072"/>
            <a:ext cx="5248655" cy="17922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06-os-july-full-enabl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83080"/>
            <a:ext cx="5120640" cy="16642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3703320"/>
            <a:ext cx="512064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Utah's Weekly Lawn Watering Guide says no watering in Salt Lake County, so the connector switched the program off. Other programs are untouched.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3639312"/>
            <a:ext cx="3328416" cy="260832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06-os-july-full-station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703320"/>
            <a:ext cx="3200400" cy="24803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92640" y="3703320"/>
            <a:ext cx="1920240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2324A"/>
                </a:solidFill>
                <a:latin typeface="Nunito"/>
              </a:rPr>
              <a:t>Mon, Wed, Fri at 5:00 AM. 4 × 7 min per zone, an hour apart, so it soaks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669280"/>
            <a:ext cx="51206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4F6B80"/>
                </a:solidFill>
                <a:latin typeface="Nunito"/>
              </a:rPr>
              <a:t>OpenSprinkler's own firmware, in demo mode, set by overwater.ing/connect. One program, rewritten each morning.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6 · Any controller: the open schedule API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6-conn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/connect: the OpenSprinkler connector is one file. Rachio and Hydrawise are next.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7 · Go native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7-nat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Before and after for this lot, then the plants and designers.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8 · The rebate, and who's in charge here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8-reb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City, water provider, wholesale districts and program for this exact lot.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9 · Any address, measured live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9-l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67 W 200 N, St. George: 10,834 sq ft of lawn needing 42 inches a season. Measured in the browser, nothing precomputed.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Neighborhood view for districts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11-district-avenu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Totals only, never household rankings.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Why it matters: overwater.ing/impact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12-imp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Our measured neighborhoods, the state-scale scenario, and the data-center framing.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789920" cy="5394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~60% of Utah M&amp;I water used outdoors; 500,993 AF/yr residential outdoor: USU Extension citing Utah DWR, extension.usu.edu/climate/research/water-wise-policies-and-programs-utah; DWR GSL Basin M&amp;I report, Aug 2025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96% of M&amp;I depletion is outdoor: USU Institute for Land, Water &amp; Air, 2025, usu.edu/ilwa/reports/2025/utahs-future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About half of Utahns overwater: Sowby, BYU 2022 (aerial imagery + bills)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Great Salt Lake 4,190.4 ft (Aug 2026), healthy range from 4,198 ft: Utah News Dispatch; wre-rapps.utah.gov/GSLApp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471,000–1,055,000 AF/yr more inflow: Great Salt Lake Strategic Plan, greatsaltlake.utah.gov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Data centers may not add GSL depletion: Utah Executive Order 2026-03 (May 29, 2026); reporting ≥75 AF/yr: HB 76 (2026)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48 Utah data centers: Deseret News, Aug 19 2026. Stratos ~987 AF/yr net depletion (project estimate): SL Tribune, Oct 20 2026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Smart controllers save up to 15,000 gal/home/yr: EPA WaterSense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~650 kWh per acre-foot to treat and deliver (260–880): EPRI via ACEEE 2009. Utah grid 0.60 kg CO₂/kWh: EIA 2024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~3M sq ft converted in 2024, &gt;$7M paid: Utah DWR turf buyback results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Our numbers: 12,791 lots, 319 acres of lawn; Greenspace r = 0.77, median ratio 0.97 (84102, 3,104 lots): RESULTS.md Runs 6–7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