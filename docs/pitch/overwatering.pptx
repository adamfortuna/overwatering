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[0:00–0:05]</a:t>
            </a:r>
          </a:p>
          <a:p>
            <a:r>
              <a:t>Hi, I'm Adam Fortuna. This is Overwater.ing. Question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[0:05–0:30]</a:t>
            </a:r>
          </a:p>
          <a:p>
            <a:r>
              <a:t>In July I went to Perspectives Over Pints at Fisher Brewing, and The Yard Farmer gave the talk.</a:t>
            </a:r>
          </a:p>
          <a:p>
            <a:r>
              <a:t>That's where I learned about Utah Water Savers: the state will pay you up to three dollars a</a:t>
            </a:r>
          </a:p>
          <a:p>
            <a:r>
              <a:t>square foot to replace your grass. We booked our own yard consult for November. But my first</a:t>
            </a:r>
          </a:p>
          <a:p>
            <a:r>
              <a:t>question was: how much lawn do I have, and what does it really need? Nobody could tell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[0:30–0:45]</a:t>
            </a:r>
          </a:p>
          <a:p>
            <a:r>
              <a:t>Here's all of Utah's water. Most goes to farms. About a sixth runs through our cities, and the</a:t>
            </a:r>
          </a:p>
          <a:p>
            <a:r>
              <a:t>biggest share of that is home yards: half a million acre-feet a year. Enough to raise Great Salt</a:t>
            </a:r>
          </a:p>
          <a:p>
            <a:r>
              <a:t>Lake about ten inches.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[0:45–1:00]</a:t>
            </a:r>
          </a:p>
          <a:p>
            <a:r>
              <a:t>Great Salt Lake is eight feet below healthy. Water we save on yards can flow to the lake. And</a:t>
            </a:r>
          </a:p>
          <a:p>
            <a:r>
              <a:t>since May, new data centers can't add to its depletion, so the AI build-out can't take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[1:00–1:10]</a:t>
            </a:r>
          </a:p>
          <a:p>
            <a:r>
              <a:t>That rebate program has replaced 7.3 million square feet of grass since 2022. But nobody knows,</a:t>
            </a:r>
          </a:p>
          <a:p>
            <a:r>
              <a:t>lot by lot, how much lawn there is. So I built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[1:10–3:00]</a:t>
            </a:r>
          </a:p>
          <a:p>
            <a:r>
              <a:t>(Switch to the browser. Full click path and fallbacks are in demo.md.)</a:t>
            </a:r>
          </a:p>
          <a:p>
            <a:r>
              <a:t>1:10 Type "603 E South Temple", the Governor's Mansion. Pick it.</a:t>
            </a:r>
          </a:p>
          <a:p>
            <a:r>
              <a:t>1:20 The 2024 aerial photo. Green is lawn, dark green is trees, red is buildings: 6,828 square</a:t>
            </a:r>
          </a:p>
          <a:p>
            <a:r>
              <a:t>feet of lawn. If we got a shape wrong, tap it. That correction trains the model. (Tap one, then</a:t>
            </a:r>
          </a:p>
          <a:p>
            <a:r>
              <a:t>tap it back to green.)</a:t>
            </a:r>
          </a:p>
          <a:p>
            <a:r>
              <a:t>1:40 Go native: about 89,000 gallons a year saved. And Utah pays up to $20,484 here,</a:t>
            </a:r>
          </a:p>
          <a:p>
            <a:r>
              <a:t>from Central Utah Water Conservancy District. It knows the city, the water system and the program.</a:t>
            </a:r>
          </a:p>
          <a:p>
            <a:r>
              <a:t>1:55 What going native looks like: the before and after, the plants, the designers to call.</a:t>
            </a:r>
          </a:p>
          <a:p>
            <a:r>
              <a:t>2:05 Or lower your water use today: pick spray heads and a basic timer. One thing to change, and a</a:t>
            </a:r>
          </a:p>
          <a:p>
            <a:r>
              <a:t>month-by-month schedule for this county.</a:t>
            </a:r>
          </a:p>
          <a:p>
            <a:r>
              <a:t>2:20 Subscribe to it as a calendar, or send it to the controller. This is OpenSprinkler's real</a:t>
            </a:r>
          </a:p>
          <a:p>
            <a:r>
              <a:t>firmware: when the state says skip, it switches itself off. In July: Monday, Wednesday, Friday at</a:t>
            </a:r>
          </a:p>
          <a:p>
            <a:r>
              <a:t>5 a.m., four short cycles a zone.</a:t>
            </a:r>
          </a:p>
          <a:p>
            <a:r>
              <a:t>2:50 (Only if the warm-up worked.) Any address in Utah is measured live, like this one in St. George.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[3:00–3:10]</a:t>
            </a:r>
          </a:p>
          <a:p>
            <a:r>
              <a:t>It's live: twelve thousand eight hundred lots precomputed, any address in all 29 counties</a:t>
            </a:r>
          </a:p>
          <a:p>
            <a:r>
              <a:t>measured on demand, and it tracks the state's own Greenspace model lot by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[3:10–3:45]</a:t>
            </a:r>
          </a:p>
          <a:p>
            <a:r>
              <a:t>How it works, in three steps. Find the grass: aerial photos of the whole state, with infrared so</a:t>
            </a:r>
          </a:p>
          <a:p>
            <a:r>
              <a:t>living plants glow, minus the trees from laser-scanned tree heights, minus the roofs, right in</a:t>
            </a:r>
          </a:p>
          <a:p>
            <a:r>
              <a:t>your browser. Know what it needs: each county's weather tells us how much water grass loses, and</a:t>
            </a:r>
          </a:p>
          <a:p>
            <a:r>
              <a:t>we turn that into days and minutes, checked against the state's weekly guide. Run the</a:t>
            </a:r>
          </a:p>
          <a:p>
            <a:r>
              <a:t>sprinklers: a calendar, or the controller itself, which switches off when the state says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[3:45–4:15]</a:t>
            </a:r>
          </a:p>
          <a:p>
            <a:r>
              <a:t>Phase one is live today: your rebate estimate, a watering schedule, and connectors for</a:t>
            </a:r>
          </a:p>
          <a:p>
            <a:r>
              <a:t>OpenSprinkler, Rachio and Home Assistant. Ten</a:t>
            </a:r>
          </a:p>
          <a:p>
            <a:r>
              <a:t>thousand dollars funds phase two: a pilot that manages real sprinklers remotely, more sprinkler</a:t>
            </a:r>
          </a:p>
          <a:p>
            <a:r>
              <a:t>systems, moisture sensors, and sitting down with each of Utah's water-wise partners to see what's</a:t>
            </a:r>
          </a:p>
          <a:p>
            <a:r>
              <a:t>already in progress. Phase three is with the state: drone scans a few times a week, so each</a:t>
            </a:r>
          </a:p>
          <a:p>
            <a:r>
              <a:t>sprinkler head waters only the patch that needs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[4:15–4:40]</a:t>
            </a:r>
          </a:p>
          <a:p>
            <a:r>
              <a:t>Two customers. Cities, districts and the state already pay for rebate outreach; we show them</a:t>
            </a:r>
          </a:p>
          <a:p>
            <a:r>
              <a:t>every lot's lawn and need, so that money goes where the savings are. With drone scans, they</a:t>
            </a:r>
          </a:p>
          <a:p>
            <a:r>
              <a:t>could spot overwatering from the air, before a bill ever shows it. Homeowners get their lawn,</a:t>
            </a:r>
          </a:p>
          <a:p>
            <a:r>
              <a:t>their rebate, and a schedule that runs itself, down to each sprinkler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[4:40–5:00]</a:t>
            </a:r>
          </a:p>
          <a:p>
            <a:r>
              <a:t>So here's the ask: ten thousand dollars for phase two, a pilot that runs real sprinklers. And</a:t>
            </a:r>
          </a:p>
          <a:p>
            <a:r>
              <a:t>introductions: to Utah's water-wise partners, to a district's conservation team, and to drone</a:t>
            </a:r>
          </a:p>
          <a:p>
            <a:r>
              <a:t>training academies that could fly LiDAR scans with us. And right now, take out your phone and</a:t>
            </a:r>
          </a:p>
          <a:p>
            <a:r>
              <a:t>type your address at overwater.ing.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[backup]</a:t>
            </a:r>
          </a:p>
          <a:p>
            <a:r>
              <a:t>Only if the live demo fails. Each following slide matches one demo step in demo.md.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1:10]</a:t>
            </a:r>
          </a:p>
          <a:p>
            <a:r>
              <a:t>Type 603 E South Temple and pick the first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1:20]</a:t>
            </a:r>
          </a:p>
          <a:p>
            <a:r>
              <a:t>6,828 sq ft of lawn on the Governor's Mansion lot, about 29 inches and 124,000 gallons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1:55]</a:t>
            </a:r>
          </a:p>
          <a:p>
            <a:r>
              <a:t>The before and after for this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1:40]</a:t>
            </a:r>
          </a:p>
          <a:p>
            <a:r>
              <a:t>The city, the water system and the program for this lot, plus the $100 smart controller rebate.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2:05]</a:t>
            </a:r>
          </a:p>
          <a:p>
            <a:r>
              <a:t>The single change with the most gallons saved, then the month-by-month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2:10]</a:t>
            </a:r>
          </a:p>
          <a:p>
            <a:r>
              <a:t>Deep and infrequent, split into short cycles so it soaks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2:20]</a:t>
            </a:r>
          </a:p>
          <a:p>
            <a:r>
              <a:t>Subscribe once; each watering day shows up at 5 a.m. with run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2:25]</a:t>
            </a:r>
          </a:p>
          <a:p>
            <a:r>
              <a:t>OpenSprinkler firmware in demo mode, set by our connector. When the guide says no watering, the program is switched</a:t>
            </a:r>
          </a:p>
          <a:p>
            <a:r>
              <a:t>off. Preview a July week and it's Monday, Wednesday, Friday at 5 a.m., four 7-minute cycles per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2:30]</a:t>
            </a:r>
          </a:p>
          <a:p>
            <a:r>
              <a:t>Rachio and Home Assistant cover most smart controllers sold in Utah; OpenSprinkler is the open-hardware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[optional]</a:t>
            </a:r>
          </a:p>
          <a:p>
            <a:r>
              <a:t>Upload the sample bill. Claude reads twelve months; the page shows the overwatering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 2:50]</a:t>
            </a:r>
          </a:p>
          <a:p>
            <a:r>
              <a:t>Any Utah address is measured live in the browser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[backup]</a:t>
            </a:r>
          </a:p>
          <a:p>
            <a:r>
              <a:t>What a district sees: lawn, need, likely overwatering and savings for a whole neighborhood.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[backup]</a:t>
            </a:r>
          </a:p>
          <a:p>
            <a:r>
              <a:t>Utah-scale numbers, live on the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[reference]</a:t>
            </a:r>
          </a:p>
          <a:p>
            <a:r>
              <a:t>Sources for every number in the deck. Saved water can increase potential flows to the lake; it may be reused upstream.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822960"/>
            <a:ext cx="5669280" cy="4429125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1298448"/>
            <a:ext cx="5486400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2324A"/>
                </a:solidFill>
                <a:latin typeface="Fredoka"/>
              </a:rPr>
              <a:t>Overwater</a:t>
            </a:r>
            <a:r>
              <a:rPr sz="4600" b="1" i="0">
                <a:solidFill>
                  <a:srgbClr val="1F86D6"/>
                </a:solidFill>
                <a:latin typeface="Fredoka"/>
              </a:rPr>
              <a:t>.ing</a:t>
            </a:r>
            <a:r>
              <a:rPr sz="4600" b="1" i="0">
                <a:solidFill>
                  <a:srgbClr val="F0A92A"/>
                </a:solidFill>
                <a:latin typeface="Fredoka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585216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2324A"/>
                </a:solidFill>
                <a:latin typeface="Fredoka"/>
              </a:rPr>
              <a:t>Is your lawn getting more water than it needs?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5486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4F6B80"/>
                </a:solidFill>
                <a:latin typeface="Nunito"/>
              </a:rPr>
              <a:t>Every lawn in Utah, measured from the air. What it really needs, sent to the sprinkler controller.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58521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324A"/>
                </a:solidFill>
                <a:latin typeface="Nunito"/>
              </a:rPr>
              <a:t>Adam Fortuna</a:t>
            </a:r>
            <a:r>
              <a:rPr sz="1600" b="0" i="0">
                <a:solidFill>
                  <a:srgbClr val="12324A"/>
                </a:solidFill>
                <a:latin typeface="Nunito"/>
              </a:rPr>
              <a:t>  ·  overwater.ing  ·  Nucleus × Startup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HOW I GOT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It started over a pint.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900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JULY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29260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2324A"/>
                </a:solidFill>
                <a:latin typeface="Fredoka"/>
              </a:rPr>
              <a:t>Perspectives Over Pints, Fisher Brewing.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292608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4F6B80"/>
                </a:solidFill>
                <a:latin typeface="Nunito"/>
              </a:rPr>
              <a:t>The Yard Farmer gave the 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2900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29260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WHAT I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29260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2324A"/>
                </a:solidFill>
                <a:latin typeface="Fredoka"/>
              </a:rPr>
              <a:t>Utah pays you to replace your grass.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292608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4F6B80"/>
                </a:solidFill>
                <a:latin typeface="Nunito"/>
              </a:rPr>
              <a:t>Utah Water Savers: $1.50–$3 per square foot.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011680"/>
            <a:ext cx="342900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29260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NOVEMBER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06040"/>
            <a:ext cx="29260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2324A"/>
                </a:solidFill>
                <a:latin typeface="Fredoka"/>
              </a:rPr>
              <a:t>Our own yard consult is booked.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49039"/>
            <a:ext cx="292608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4F6B80"/>
                </a:solidFill>
                <a:latin typeface="Nunito"/>
              </a:rPr>
              <a:t>So: how much lawn do I actually have?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7315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2324A"/>
                </a:solidFill>
                <a:latin typeface="Nunito"/>
              </a:rPr>
              <a:t>Nobody could tell me. </a:t>
            </a:r>
            <a:r>
              <a:rPr sz="2400" b="0" i="0">
                <a:solidFill>
                  <a:srgbClr val="12324A"/>
                </a:solidFill>
                <a:latin typeface="Nunito"/>
              </a:rPr>
              <a:t>Not for my lot, and not for any lot in Utah.</a:t>
            </a:r>
          </a:p>
        </p:txBody>
      </p:sp>
      <p:pic>
        <p:nvPicPr>
          <p:cNvPr id="17" name="Picture 16" descr="gr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26280"/>
            <a:ext cx="1463040" cy="1671523"/>
          </a:xfrm>
          <a:prstGeom prst="rect">
            <a:avLst/>
          </a:prstGeom>
        </p:spPr>
      </p:pic>
      <p:pic>
        <p:nvPicPr>
          <p:cNvPr id="18" name="Picture 17" descr="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166360"/>
            <a:ext cx="566928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Where Utah's water goes.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64792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All of Utah's water: ~4.7M acre-feet a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7721147" cy="731520"/>
          </a:xfrm>
          <a:prstGeom prst="rect">
            <a:avLst/>
          </a:prstGeom>
          <a:solidFill>
            <a:srgbClr val="E6C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7574843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Farms</a:t>
            </a:r>
            <a:r>
              <a:rPr sz="1500" b="0" i="0">
                <a:solidFill>
                  <a:srgbClr val="12324A"/>
                </a:solidFill>
                <a:latin typeface="Nunito"/>
              </a:rPr>
              <a:t>  72%</a:t>
            </a:r>
          </a:p>
        </p:txBody>
      </p:sp>
      <p:sp>
        <p:nvSpPr>
          <p:cNvPr id="7" name="Rectangle 6"/>
          <p:cNvSpPr/>
          <p:nvPr/>
        </p:nvSpPr>
        <p:spPr>
          <a:xfrm>
            <a:off x="8443523" y="2148840"/>
            <a:ext cx="1597351" cy="731520"/>
          </a:xfrm>
          <a:prstGeom prst="rect">
            <a:avLst/>
          </a:prstGeom>
          <a:solidFill>
            <a:srgbClr val="1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53251" y="2148840"/>
            <a:ext cx="1451047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unito"/>
              </a:rPr>
              <a:t>Cities &amp; towns</a:t>
            </a:r>
            <a:r>
              <a:rPr sz="1500" b="0" i="0">
                <a:solidFill>
                  <a:srgbClr val="FFFFFF"/>
                </a:solidFill>
                <a:latin typeface="Nunito"/>
              </a:rPr>
              <a:t>  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77450" y="2148840"/>
            <a:ext cx="633929" cy="731520"/>
          </a:xfrm>
          <a:prstGeom prst="rect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747956" y="2148840"/>
            <a:ext cx="304397" cy="731520"/>
          </a:xfrm>
          <a:prstGeom prst="rect">
            <a:avLst/>
          </a:prstGeom>
          <a:solidFill>
            <a:srgbClr val="B3C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1088929" y="2148840"/>
            <a:ext cx="176246" cy="731520"/>
          </a:xfrm>
          <a:prstGeom prst="rect">
            <a:avLst/>
          </a:prstGeom>
          <a:solidFill>
            <a:srgbClr val="C6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301752" y="2148840"/>
            <a:ext cx="141920" cy="731520"/>
          </a:xfrm>
          <a:prstGeom prst="rect">
            <a:avLst/>
          </a:prstGeom>
          <a:solidFill>
            <a:srgbClr val="D6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480248" y="2148840"/>
            <a:ext cx="18288" cy="731520"/>
          </a:xfrm>
          <a:prstGeom prst="rect">
            <a:avLst/>
          </a:prstGeom>
          <a:solidFill>
            <a:srgbClr val="E3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0" y="1801368"/>
            <a:ext cx="55778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4F6B80"/>
                </a:solidFill>
                <a:latin typeface="Nunito"/>
              </a:rPr>
              <a:t>Then mining 6%, industry 3%, fish hatcheries 2%, power 2%, livestock 0.4%</a:t>
            </a:r>
          </a:p>
        </p:txBody>
      </p:sp>
      <p:sp>
        <p:nvSpPr>
          <p:cNvPr id="15" name="Freeform 14"/>
          <p:cNvSpPr/>
          <p:nvPr/>
        </p:nvSpPr>
        <p:spPr>
          <a:xfrm>
            <a:off x="685800" y="2880360"/>
            <a:ext cx="10835640" cy="1005840"/>
          </a:xfrm>
          <a:custGeom>
            <a:avLst/>
            <a:gdLst/>
            <a:ahLst/>
            <a:cxnLst/>
            <a:rect l="l" t="t" r="r" b="b"/>
            <a:pathLst>
              <a:path w="10835640" h="1005840">
                <a:moveTo>
                  <a:pt x="7757723" y="0"/>
                </a:moveTo>
                <a:lnTo>
                  <a:pt x="9355074" y="0"/>
                </a:lnTo>
                <a:lnTo>
                  <a:pt x="1083564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D4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10835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Where cities' water goes, counting secondary (untreated) irrigation water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97680"/>
            <a:ext cx="4514392" cy="731520"/>
          </a:xfrm>
          <a:prstGeom prst="rect">
            <a:avLst/>
          </a:prstGeom>
          <a:solidFill>
            <a:srgbClr val="2C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5528" y="4297680"/>
            <a:ext cx="4368088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unito"/>
              </a:rPr>
              <a:t>Home yards</a:t>
            </a:r>
            <a:r>
              <a:rPr sz="1500" b="0" i="0">
                <a:solidFill>
                  <a:srgbClr val="FFFFFF"/>
                </a:solidFill>
                <a:latin typeface="Nunito"/>
              </a:rPr>
              <a:t>  42%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6768" y="4297680"/>
            <a:ext cx="2997403" cy="731520"/>
          </a:xfrm>
          <a:prstGeom prst="rect">
            <a:avLst/>
          </a:prstGeom>
          <a:solidFill>
            <a:srgbClr val="A9D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46496" y="4297680"/>
            <a:ext cx="2851099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Inside homes</a:t>
            </a:r>
            <a:r>
              <a:rPr sz="1500" b="0" i="0">
                <a:solidFill>
                  <a:srgbClr val="12324A"/>
                </a:solidFill>
                <a:latin typeface="Nunito"/>
              </a:rPr>
              <a:t>  28%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0748" y="4297680"/>
            <a:ext cx="3214116" cy="731520"/>
          </a:xfrm>
          <a:prstGeom prst="rect">
            <a:avLst/>
          </a:prstGeom>
          <a:solidFill>
            <a:srgbClr val="CD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80475" y="4297680"/>
            <a:ext cx="3067812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Businesses, schools, churches &amp; industry</a:t>
            </a:r>
            <a:r>
              <a:rPr sz="1500" b="0" i="0">
                <a:solidFill>
                  <a:srgbClr val="12324A"/>
                </a:solidFill>
                <a:latin typeface="Nunito"/>
              </a:rPr>
              <a:t> 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10835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C9A4B"/>
                </a:solidFill>
                <a:latin typeface="Fredoka"/>
              </a:rPr>
              <a:t>Home yards: 500,993 acre-feet a year,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2324A"/>
                </a:solidFill>
                <a:latin typeface="Fredoka"/>
              </a:rPr>
              <a:t>enough to raise Great Salt Lake about 10 inches.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F6B80"/>
                </a:solidFill>
                <a:latin typeface="Nunito"/>
              </a:rPr>
              <a:t>All water: USGS Circular 1441, Utah 2015 (withdrawals incl. saline; much of Utah's secondary yard water is counted under irrigation there). Cities: Utah DWR Water Resources Plan 2021 via USU Extension (M&amp;I is 25% of 4.75M AF diverted; &gt;70% residential; 60% of that outdoors). Lake: ~610,000 acres near 4,191 ft (UGS), volume equivalent only; saved water can increase potential flows to the lake.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The lake needs that water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2120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GREAT SALT 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7548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6400" b="1" i="0">
                <a:solidFill>
                  <a:srgbClr val="E5533F"/>
                </a:solidFill>
                <a:latin typeface="Fredoka"/>
              </a:rPr>
              <a:t>4,190.4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47548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2324A"/>
                </a:solidFill>
                <a:latin typeface="Nunito"/>
              </a:rPr>
              <a:t>August 2026. The healthy range starts at 4,198 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47548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2324A"/>
                </a:solidFill>
                <a:latin typeface="Nunito"/>
              </a:rPr>
              <a:t>471,000–1,055,000 </a:t>
            </a:r>
            <a:r>
              <a:rPr sz="1800" b="0" i="0">
                <a:solidFill>
                  <a:srgbClr val="12324A"/>
                </a:solidFill>
                <a:latin typeface="Nunito"/>
              </a:rPr>
              <a:t>more acre-feet a year to get it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C9A4B"/>
                </a:solidFill>
                <a:latin typeface="Nunito"/>
              </a:rPr>
              <a:t>AND IT STAYS WITH THE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7548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2324A"/>
                </a:solidFill>
                <a:latin typeface="Fredoka"/>
              </a:rPr>
              <a:t>Water saved on yards can flow to the lake.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80060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2324A"/>
                </a:solidFill>
                <a:latin typeface="Nunito"/>
              </a:rPr>
              <a:t>Executive Order 2026-03 </a:t>
            </a:r>
            <a:r>
              <a:rPr sz="1800" b="0" i="0">
                <a:solidFill>
                  <a:srgbClr val="12324A"/>
                </a:solidFill>
                <a:latin typeface="Nunito"/>
              </a:rPr>
              <a:t>(May 2026): new data centers may not add to Great Salt Lake's depletion.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2324A"/>
                </a:solidFill>
                <a:latin typeface="Nunito"/>
              </a:rPr>
              <a:t>So Utah's AI build-out can't take what yards give back.</a:t>
            </a:r>
          </a:p>
        </p:txBody>
      </p:sp>
      <p:pic>
        <p:nvPicPr>
          <p:cNvPr id="13" name="Picture 12" descr="arch-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02920"/>
            <a:ext cx="1030014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F6B80"/>
                </a:solidFill>
                <a:latin typeface="Nunito"/>
              </a:rPr>
              <a:t>Sources: Utah News Dispatch / USGS gauge (lake level); Great Salt Lake Strategic Plan (inflow need); Utah Executive Order 2026-03 (May 29, 2026). Saved water can increase potential flows to the lake; it may be reused upstream.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Utah pays to fix it. It can't see the yards.</a:t>
            </a:r>
          </a:p>
        </p:txBody>
      </p:sp>
      <p:pic>
        <p:nvPicPr>
          <p:cNvPr id="4" name="Picture 3" descr="c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2011680"/>
            <a:ext cx="4114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800" b="1" i="0">
                <a:solidFill>
                  <a:srgbClr val="C27C00"/>
                </a:solidFill>
                <a:latin typeface="Fredoka"/>
              </a:rPr>
              <a:t>$1.50–$3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4114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2324A"/>
                </a:solidFill>
                <a:latin typeface="Nunito"/>
              </a:rPr>
              <a:t>per square foot of lawn you replace.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5486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2324A"/>
                </a:solidFill>
                <a:latin typeface="Nunito"/>
              </a:rPr>
              <a:t>2024: </a:t>
            </a:r>
            <a:r>
              <a:rPr sz="1800" b="0" i="0">
                <a:solidFill>
                  <a:srgbClr val="12324A"/>
                </a:solidFill>
                <a:latin typeface="Nunito"/>
              </a:rPr>
              <a:t>~3 million sq ft replaced, &gt;$7M paid.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2324A"/>
                </a:solidFill>
                <a:latin typeface="Nunito"/>
              </a:rPr>
              <a:t>Oct 2022 – Dec 2025: </a:t>
            </a:r>
            <a:r>
              <a:rPr sz="1800" b="0" i="0">
                <a:solidFill>
                  <a:srgbClr val="12324A"/>
                </a:solidFill>
                <a:latin typeface="Nunito"/>
              </a:rPr>
              <a:t>7.3 million sq ft, 4,700 yards, $16.8M.</a:t>
            </a:r>
          </a:p>
        </p:txBody>
      </p:sp>
      <p:pic>
        <p:nvPicPr>
          <p:cNvPr id="8" name="Picture 7" descr="sprinkler-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03120"/>
            <a:ext cx="9144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2011680"/>
            <a:ext cx="38404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800" b="1" i="0">
                <a:solidFill>
                  <a:srgbClr val="E5533F"/>
                </a:solidFill>
                <a:latin typeface="Fredoka"/>
              </a:rPr>
              <a:t>About half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834640"/>
            <a:ext cx="3794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2324A"/>
                </a:solidFill>
                <a:latin typeface="Nunito"/>
              </a:rPr>
              <a:t>of Utahns overwater (BYU, aerial imagery + water bills).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10835640" cy="1143000"/>
          </a:xfrm>
          <a:prstGeom prst="roundRect">
            <a:avLst>
              <a:gd name="adj" fmla="val 15000"/>
            </a:avLst>
          </a:prstGeom>
          <a:solidFill>
            <a:srgbClr val="DF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0332720" cy="10515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2324A"/>
                </a:solidFill>
                <a:latin typeface="Fredoka"/>
              </a:rPr>
              <a:t>But nobody knows, lot by lot, how much lawn there is or how much water it really needs.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F6B80"/>
                </a:solidFill>
                <a:latin typeface="Nunito"/>
              </a:rPr>
              <a:t>Sources: Utah Water Savers rates (checked Oct 27 2026); Utah DWR turf buyback results 2024; state fact sheet "Utah's Big Water Win", Oct 2022–Dec 2025 (Slow the Flow); Sowby et al., BYU 2022.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LIVE DEMO · OVERWATER.ING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Type any Utah address.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3154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86D6"/>
                </a:solidFill>
                <a:latin typeface="Fredoka"/>
              </a:rPr>
              <a:t>1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Enter your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26280"/>
            <a:ext cx="3154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4F6B80"/>
                </a:solidFill>
                <a:latin typeface="Nunito"/>
              </a:rPr>
              <a:t>Any address in all 29 counties.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54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86D6"/>
                </a:solidFill>
                <a:latin typeface="Fredoka"/>
              </a:rPr>
              <a:t>2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Confirm what's grass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4526280"/>
            <a:ext cx="3154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4F6B80"/>
                </a:solidFill>
                <a:latin typeface="Nunito"/>
              </a:rPr>
              <a:t>Tap a shape to fix it. 6,828 sq ft of lawn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783080"/>
            <a:ext cx="3154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86D6"/>
                </a:solidFill>
                <a:latin typeface="Fredoka"/>
              </a:rPr>
              <a:t>3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See what native saves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526280"/>
            <a:ext cx="3154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4F6B80"/>
                </a:solidFill>
                <a:latin typeface="Nunito"/>
              </a:rPr>
              <a:t>89,236 gallons a year, and up to $20,484 back.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41648" y="3154680"/>
            <a:ext cx="384048" cy="292608"/>
          </a:xfrm>
          <a:prstGeom prst="rightArrow">
            <a:avLst/>
          </a:prstGeom>
          <a:solidFill>
            <a:srgbClr val="4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882128" y="3154680"/>
            <a:ext cx="384048" cy="292608"/>
          </a:xfrm>
          <a:prstGeom prst="rightArrow">
            <a:avLst/>
          </a:prstGeom>
          <a:solidFill>
            <a:srgbClr val="4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2816352"/>
            <a:ext cx="3191256" cy="10375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low-1-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3063240" cy="90954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65192" y="2267712"/>
            <a:ext cx="2308348" cy="22311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low-2-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31720"/>
            <a:ext cx="2180332" cy="2103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48472" y="2450592"/>
            <a:ext cx="3191256" cy="18404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low-3-nat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514600"/>
            <a:ext cx="3063240" cy="17124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85800" y="5120640"/>
            <a:ext cx="10835640" cy="1325880"/>
          </a:xfrm>
          <a:prstGeom prst="roundRect">
            <a:avLst>
              <a:gd name="adj" fmla="val 14000"/>
            </a:avLst>
          </a:prstGeom>
          <a:solidFill>
            <a:srgbClr val="DF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212080"/>
            <a:ext cx="841248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1F86D6"/>
                </a:solidFill>
                <a:latin typeface="Fredoka"/>
              </a:rPr>
              <a:t>4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Or lower your water use today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2324A"/>
                </a:solidFill>
                <a:latin typeface="Nunito"/>
              </a:rPr>
              <a:t>County-level watering schedules that follow the state's weekly guide, as a calendar or sent straight to the controller: OpenSprinkler, Rachio or Home Assistant.</a:t>
            </a:r>
          </a:p>
        </p:txBody>
      </p:sp>
      <p:pic>
        <p:nvPicPr>
          <p:cNvPr id="20" name="Picture 19" descr="sprink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5074920"/>
            <a:ext cx="1748511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Live, statewide, and checked against the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9260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 i="0">
                <a:solidFill>
                  <a:srgbClr val="1F86D6"/>
                </a:solidFill>
                <a:latin typeface="Fredoka"/>
              </a:rPr>
              <a:t>12,791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29260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2324A"/>
                </a:solidFill>
                <a:latin typeface="Nunito"/>
              </a:rPr>
              <a:t>lots precomputed in six Salt Lake City and Sandy neighborhoods: 319 acres of lawn.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9260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 i="0">
                <a:solidFill>
                  <a:srgbClr val="2C9A4B"/>
                </a:solidFill>
                <a:latin typeface="Fredoka"/>
              </a:rPr>
              <a:t>29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337560"/>
            <a:ext cx="29260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2324A"/>
                </a:solidFill>
                <a:latin typeface="Nunito"/>
              </a:rPr>
              <a:t>Utah counties searchable. Any other address is measured live in the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05740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9260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 i="0">
                <a:solidFill>
                  <a:srgbClr val="E5533F"/>
                </a:solidFill>
                <a:latin typeface="Fredoka"/>
              </a:rPr>
              <a:t>r = 0.77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337560"/>
            <a:ext cx="29260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2324A"/>
                </a:solidFill>
                <a:latin typeface="Nunito"/>
              </a:rPr>
              <a:t>per-lot agreement with the state's Greenspace model (3,104 lots, median ratio 0.97).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324A"/>
                </a:solidFill>
                <a:latin typeface="Nunito"/>
              </a:rPr>
              <a:t>Built on real data: </a:t>
            </a:r>
            <a:r>
              <a:rPr sz="1800" b="0" i="0">
                <a:solidFill>
                  <a:srgbClr val="12324A"/>
                </a:solidFill>
                <a:latin typeface="Nunito"/>
              </a:rPr>
              <a:t>USDA aerial imagery, county parcels, Meta tree heights, gridMET weather, Utah Water Savers rebates, the state's weekly watering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F6B80"/>
                </a:solidFill>
                <a:latin typeface="Nunito"/>
              </a:rPr>
              <a:t>Greenspace comparison: Utah DWRe Greenspace 2024 (NDVI ≥ 0.15) vs. our lawn + tree canopy for ZIP 84102: 189.2 vs 170.2 acres. Data shared by Jack Hinzman, Senior GIS Analyst, DWRe. Method: RESULTS.md, Run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HARD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From an aerial photo to your sprinkler.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4290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3017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86D6"/>
                </a:solidFill>
                <a:latin typeface="Fredoka"/>
              </a:rPr>
              <a:t>1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Find the grass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4622" y="2404872"/>
            <a:ext cx="2071355" cy="20025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low-2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30" y="2468880"/>
            <a:ext cx="1943339" cy="18745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526280"/>
            <a:ext cx="30175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2324A"/>
                </a:solidFill>
                <a:latin typeface="Nunito"/>
              </a:rPr>
              <a:t>•  Aerial photos with infrared, so living plants glow.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2324A"/>
                </a:solidFill>
                <a:latin typeface="Nunito"/>
              </a:rPr>
              <a:t>•  Laser-scanned tree heights and building outlines pull out trees and roofs.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F6B80"/>
                </a:solidFill>
                <a:latin typeface="Nunito"/>
              </a:rPr>
              <a:t>USDA NAIP 2024 (60 cm, 4-band) · NDVI · Meta LiDAR canopy heights · runs in your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3017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C9A4B"/>
                </a:solidFill>
                <a:latin typeface="Fredoka"/>
              </a:rPr>
              <a:t>2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Know what it needs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9431" y="2808043"/>
            <a:ext cx="3008376" cy="119619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low-4-schedu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872051"/>
            <a:ext cx="2880360" cy="10681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4526280"/>
            <a:ext cx="30175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2324A"/>
                </a:solidFill>
                <a:latin typeface="Nunito"/>
              </a:rPr>
              <a:t>•  Each county's weather: how much water grass loses each day.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2324A"/>
                </a:solidFill>
                <a:latin typeface="Nunito"/>
              </a:rPr>
              <a:t>•  Turned into days and minutes, checked against the state's weekly guide.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76072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F6B80"/>
                </a:solidFill>
                <a:latin typeface="Nunito"/>
              </a:rPr>
              <a:t>gridMET reference ET · FAO-56 turf coefficient · Utah Weekly Lawn Watering Guide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83080"/>
            <a:ext cx="34290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1901952"/>
            <a:ext cx="3017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5533F"/>
                </a:solidFill>
                <a:latin typeface="Fredoka"/>
              </a:rPr>
              <a:t>3  </a:t>
            </a:r>
            <a:r>
              <a:rPr sz="2100" b="1" i="0">
                <a:solidFill>
                  <a:srgbClr val="12324A"/>
                </a:solidFill>
                <a:latin typeface="Fredoka"/>
              </a:rPr>
              <a:t>Run the sprinklers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2404872"/>
            <a:ext cx="2546751" cy="20025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06-os-july-full-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468880"/>
            <a:ext cx="2418735" cy="18745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4526280"/>
            <a:ext cx="30175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2324A"/>
                </a:solidFill>
                <a:latin typeface="Nunito"/>
              </a:rPr>
              <a:t>•  A calendar, or the controller itself: off when the state says skip.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2324A"/>
                </a:solidFill>
                <a:latin typeface="Nunito"/>
              </a:rPr>
              <a:t>•  Your corrections train our model. Claude reads bills to check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76072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F6B80"/>
                </a:solidFill>
                <a:latin typeface="Nunito"/>
              </a:rPr>
              <a:t>Open schedule API · OpenSprinkler, Rachio and Home Assistant connectors · Claude reads bills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Three phases. $10K unlocks the second.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4290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C9A4B"/>
                </a:solidFill>
                <a:latin typeface="Nunito"/>
              </a:rPr>
              <a:t>PHASE 1 · LIVE NOW</a:t>
            </a:r>
          </a:p>
        </p:txBody>
      </p:sp>
      <p:pic>
        <p:nvPicPr>
          <p:cNvPr id="6" name="Picture 5" descr="icon-check-2c9a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59736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2423160"/>
            <a:ext cx="2606040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Estimate your rebate to go native</a:t>
            </a:r>
          </a:p>
        </p:txBody>
      </p:sp>
      <p:pic>
        <p:nvPicPr>
          <p:cNvPr id="8" name="Picture 7" descr="icon-check-2c9a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009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5880" y="3264408"/>
            <a:ext cx="2606040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Optimize your watering schedule</a:t>
            </a:r>
          </a:p>
        </p:txBody>
      </p:sp>
      <p:pic>
        <p:nvPicPr>
          <p:cNvPr id="10" name="Picture 9" descr="icon-check-2c9a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42232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4105656"/>
            <a:ext cx="2606040" cy="9966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OpenSprinkler integration, plus Rachio and Home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290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1938528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86D6"/>
                </a:solidFill>
                <a:latin typeface="Nunito"/>
              </a:rPr>
              <a:t>PHASE 2 · WHAT $10K FUNDS</a:t>
            </a:r>
          </a:p>
        </p:txBody>
      </p:sp>
      <p:pic>
        <p:nvPicPr>
          <p:cNvPr id="14" name="Picture 13" descr="icon-ring-1f86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5973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0" y="2423160"/>
            <a:ext cx="2606040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Pilot: manage sprinklers remotely</a:t>
            </a:r>
          </a:p>
        </p:txBody>
      </p:sp>
      <p:pic>
        <p:nvPicPr>
          <p:cNvPr id="16" name="Picture 15" descr="icon-ring-1f86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300984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0" y="3264408"/>
            <a:ext cx="2606040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Support more sprinkler systems</a:t>
            </a:r>
          </a:p>
        </p:txBody>
      </p:sp>
      <p:pic>
        <p:nvPicPr>
          <p:cNvPr id="18" name="Picture 17" descr="icon-ring-1f86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142232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0" y="4105656"/>
            <a:ext cx="2606040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Moisture sensor integration</a:t>
            </a:r>
          </a:p>
        </p:txBody>
      </p:sp>
      <p:pic>
        <p:nvPicPr>
          <p:cNvPr id="20" name="Picture 19" descr="icon-ring-1f86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983480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0" y="4946904"/>
            <a:ext cx="2606040" cy="9966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Meet Utah's water-wise partners: what's in progress,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044184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4F6B80"/>
                </a:solidFill>
                <a:latin typeface="Nunito"/>
              </a:rPr>
              <a:t>slowtheflow.org/partners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783080"/>
            <a:ext cx="34290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21040" y="1938528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27C00"/>
                </a:solidFill>
                <a:latin typeface="Nunito"/>
              </a:rPr>
              <a:t>PHASE 3 · WITH THE STATE</a:t>
            </a:r>
          </a:p>
        </p:txBody>
      </p:sp>
      <p:pic>
        <p:nvPicPr>
          <p:cNvPr id="25" name="Picture 24" descr="icon-ring-c27c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459736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32519" y="2423160"/>
            <a:ext cx="2606040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2324A"/>
                </a:solidFill>
                <a:latin typeface="Nunito"/>
              </a:rPr>
              <a:t>Drone scans tune each sprinkler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55848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4F6B80"/>
                </a:solidFill>
                <a:latin typeface="Nunito"/>
              </a:rPr>
              <a:t>State drone flights a few times a week map moisture with LiDAR. Each sprinkler waters only the patch that needs it, and skips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PATH TO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2324A"/>
                </a:solidFill>
                <a:latin typeface="Fredoka"/>
              </a:rPr>
              <a:t>Two customers: the state and the homeowner.</a:t>
            </a:r>
          </a:p>
        </p:txBody>
      </p:sp>
      <p:pic>
        <p:nvPicPr>
          <p:cNvPr id="4" name="Picture 3" descr="sprinkler-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737360"/>
            <a:ext cx="402145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71800" y="1783080"/>
            <a:ext cx="39319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324A"/>
                </a:solidFill>
                <a:latin typeface="Fredoka"/>
              </a:rPr>
              <a:t>Cities, districts &amp; the state</a:t>
            </a:r>
          </a:p>
        </p:txBody>
      </p:sp>
      <p:pic>
        <p:nvPicPr>
          <p:cNvPr id="6" name="Picture 5" descr="gr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737360"/>
            <a:ext cx="48021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783080"/>
            <a:ext cx="39319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324A"/>
                </a:solidFill>
                <a:latin typeface="Fredoka"/>
              </a:rPr>
              <a:t>Homeowners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463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C9A4B"/>
                </a:solidFill>
                <a:latin typeface="Nunito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514600"/>
            <a:ext cx="4526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4114800" cy="960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2324A"/>
                </a:solidFill>
                <a:latin typeface="Nunito"/>
              </a:rPr>
              <a:t>Every lot's lawn and need. Rebate outreach goes where the savings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514600"/>
            <a:ext cx="4526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23760" y="2560320"/>
            <a:ext cx="4114800" cy="960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2324A"/>
                </a:solidFill>
                <a:latin typeface="Nunito"/>
              </a:rPr>
              <a:t>Your lawn, your rebate, and a schedule that changes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59"/>
            <a:ext cx="1463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3749039"/>
            <a:ext cx="4526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60320" y="3794759"/>
            <a:ext cx="4114800" cy="960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2324A"/>
                </a:solidFill>
                <a:latin typeface="Nunito"/>
              </a:rPr>
              <a:t>Schedules that follow the state guide across a district. Savings measured on 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3749039"/>
            <a:ext cx="4526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23760" y="3794759"/>
            <a:ext cx="4114800" cy="960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2324A"/>
                </a:solidFill>
                <a:latin typeface="Nunito"/>
              </a:rPr>
              <a:t>Sprinklers managed for you. Moisture sensors skip the wet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1463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27C00"/>
                </a:solidFill>
                <a:latin typeface="Nunito"/>
              </a:rPr>
              <a:t>PHASE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4983480"/>
            <a:ext cx="4526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60320" y="5029200"/>
            <a:ext cx="4114800" cy="960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2324A"/>
                </a:solidFill>
                <a:latin typeface="Nunito"/>
              </a:rPr>
              <a:t>Drone scans spot overwatering from the air, lot by lot.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4983480"/>
            <a:ext cx="4526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23760" y="5029200"/>
            <a:ext cx="4114800" cy="960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2324A"/>
                </a:solidFill>
                <a:latin typeface="Nunito"/>
              </a:rPr>
              <a:t>Each sprinkler head waters only the patch that needs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F6B80"/>
                </a:solidFill>
                <a:latin typeface="Nunito"/>
              </a:rPr>
              <a:t>Districts already named on the site: Central Utah, Jordan Valley, Weber Basin, Washington County, and the statewide Utah Water Savers program.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2855"/>
            <a:ext cx="12191695" cy="22351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86D6"/>
                </a:solidFill>
                <a:latin typeface="Nunit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800" b="1" i="0">
                <a:solidFill>
                  <a:srgbClr val="12324A"/>
                </a:solidFill>
                <a:latin typeface="Fredoka"/>
              </a:rPr>
              <a:t>Type your address at overwater.ing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768096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1F86D6"/>
                </a:solidFill>
                <a:latin typeface="Nunito"/>
              </a:rPr>
              <a:t>$10K </a:t>
            </a:r>
            <a:r>
              <a:rPr sz="2000" b="0" i="0">
                <a:solidFill>
                  <a:srgbClr val="12324A"/>
                </a:solidFill>
                <a:latin typeface="Nunito"/>
              </a:rPr>
              <a:t>for phase 2: a pilot that runs real sprinklers.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1F86D6"/>
                </a:solidFill>
                <a:latin typeface="Nunito"/>
              </a:rPr>
              <a:t>Intros </a:t>
            </a:r>
            <a:r>
              <a:rPr sz="2000" b="0" i="0">
                <a:solidFill>
                  <a:srgbClr val="12324A"/>
                </a:solidFill>
                <a:latin typeface="Nunito"/>
              </a:rPr>
              <a:t>to Utah's water-wise partners, a district conservation team, and drone training academies for LiDAR scans.</a:t>
            </a:r>
          </a:p>
        </p:txBody>
      </p:sp>
      <p:pic>
        <p:nvPicPr>
          <p:cNvPr id="6" name="Picture 5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77724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400" y="3200400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2324A"/>
                </a:solidFill>
                <a:latin typeface="Fredoka"/>
              </a:rPr>
              <a:t>overwater.ing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377440"/>
            <a:ext cx="107899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2324A"/>
                </a:solidFill>
                <a:latin typeface="Fredoka"/>
              </a:rPr>
              <a:t>Backup: the demo,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29000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4F6B80"/>
                </a:solidFill>
                <a:latin typeface="Nunito"/>
              </a:rPr>
              <a:t>If the Wi-Fi fails, click through these instead. Same order as the live demo.</a:t>
            </a:r>
          </a:p>
        </p:txBody>
      </p:sp>
      <p:pic>
        <p:nvPicPr>
          <p:cNvPr id="4" name="Picture 3" descr="sprinkler-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206240"/>
            <a:ext cx="128016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1 · Enter any Utah address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2-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9968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low-1-se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8688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331860"/>
            <a:ext cx="2926080" cy="35660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Search covers parcels in all 29 counties.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2 · Confirm what's grass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3-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1785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low-2-lawn-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1657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3120432"/>
            <a:ext cx="2926080" cy="2777447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2024 USDA imagery at 0.6 m. Green = lawn, dark green = trees, red = buildings. Tap a shape to fix it. 6,828 sq ft of lawn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3 · What going native saves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7-na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176381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low-3-nat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16357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3098837"/>
            <a:ext cx="2926080" cy="279904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About 89,236 gallons a year for this lot, then the plants and the designers to call.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3 · The rebate, and who's in charge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8-reb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346979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low-3-rebate-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33417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4804817"/>
            <a:ext cx="2926080" cy="109306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Up to $20,484 from Central Utah Water Conservancy District. City, water provider and program for this exact lot.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4 · Lower your water use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5-watering-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68401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low-4-plan-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5559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019038"/>
            <a:ext cx="2926080" cy="3878841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Spray heads and a basic timer, in this county's weather: one thing to 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4 · The schedule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64511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5-watering-sche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18872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80760"/>
            <a:ext cx="10789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6B80"/>
                </a:solidFill>
                <a:latin typeface="Nunito"/>
              </a:rPr>
              <a:t>Days a week and cycle-and-soak minutes per zone, from local weather.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4 · Subscribe to the watering calendar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64511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6-calend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18872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80760"/>
            <a:ext cx="10789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6B80"/>
                </a:solidFill>
                <a:latin typeface="Nunito"/>
              </a:rPr>
              <a:t>It follows Utah's Weekly Lawn Watering Guide; skip weeks clear themselves.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4 · The controller follows the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5533F"/>
                </a:solidFill>
                <a:latin typeface="Fredoka"/>
              </a:rPr>
              <a:t>When the state says skip: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43000"/>
            <a:ext cx="5212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C9A4B"/>
                </a:solidFill>
                <a:latin typeface="Fredoka"/>
              </a:rPr>
              <a:t>A July week: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19072"/>
            <a:ext cx="5248655" cy="17922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06-os-paused-full-enab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120640" cy="16642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45352" y="1719072"/>
            <a:ext cx="5248655" cy="17922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6-os-july-full-enab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120640" cy="1664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703320"/>
            <a:ext cx="512064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2324A"/>
                </a:solidFill>
                <a:latin typeface="Nunito"/>
              </a:rPr>
              <a:t>Utah's Weekly Lawn Watering Guide said no watering in Salt Lake County, so the connector switched the program off. Other programs are untouched.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639312"/>
            <a:ext cx="3328416" cy="260832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06-os-july-full-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03320"/>
            <a:ext cx="3200400" cy="24803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2640" y="3703320"/>
            <a:ext cx="1920240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2324A"/>
                </a:solidFill>
                <a:latin typeface="Nunito"/>
              </a:rPr>
              <a:t>Mon, Wed, Fri at 5:00 AM. 4 × 7 min per zone, an hour apart, so it soaks 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0"/>
            <a:ext cx="51206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F6B80"/>
                </a:solidFill>
                <a:latin typeface="Nunito"/>
              </a:rPr>
              <a:t>OpenSprinkler's own firmware, in demo mode, set by overwater.ing/connect. One program, rewritten each morning.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4 · Any controller: /connect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64511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6-conn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18872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80760"/>
            <a:ext cx="10789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6B80"/>
                </a:solidFill>
                <a:latin typeface="Nunito"/>
              </a:rPr>
              <a:t>Pick a county and sprinkler type, then OpenSprinkler, Rachio or Home Assistant. The same schedule is open JSON.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Optional · Claude reads the bill: 197,334 gallons 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4-b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269238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zoom-bill-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2564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4027409"/>
            <a:ext cx="2926080" cy="187047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320,914 gallons a year outdoors against the 123,581 this lawn needs, read from a photo of the bill.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Optional · Any address, measured live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9-l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534656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1352" y="1124712"/>
            <a:ext cx="3054096" cy="164504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zoom-live-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188720"/>
            <a:ext cx="2926080" cy="15170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2980066"/>
            <a:ext cx="2926080" cy="2917813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2324A"/>
                </a:solidFill>
                <a:latin typeface="Nunito"/>
              </a:rPr>
              <a:t>67 W 200 N, St. George: 10,834 sq ft of lawn needing 42 inches a season. Measured in the browser, nothing precomputed.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Neighborhood view for districts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64511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1-district-avenu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18872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80760"/>
            <a:ext cx="10789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6B80"/>
                </a:solidFill>
                <a:latin typeface="Nunito"/>
              </a:rPr>
              <a:t>Totals only, never household rankings.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Utah-scale numbers: overwater.ing/impact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64511" y="1124712"/>
            <a:ext cx="7662672" cy="4837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F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2-imp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18872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80760"/>
            <a:ext cx="10789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6B80"/>
                </a:solidFill>
                <a:latin typeface="Nunito"/>
              </a:rPr>
              <a:t>Our measured neighborhoods and the state-scale scenario.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324A"/>
                </a:solidFill>
                <a:latin typeface="Fredok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94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All Utah water by category (2015): USGS Circular 1441, Estimated Use of Water in the United States in 2015, Table 2B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Cities' water: Utah DWR Water Resources Plan (Dec 2021) via USU Extension, extension.usu.edu/climate/research/water-wise-policies-and-programs-utah: 4.75M AF diverted, M&amp;I 25%, &gt;70% residential, 60% outdoors, 500,993 AF/yr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Great Salt Lake area ~610,000 acres near 4,191 ft: Utah Geological Survey. Level 4,190.4 ft (Aug 2026), healthy from 4,198 ft: Utah News Dispatch; wre-rapps.utah.gov/GSLApp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471,000–1,055,000 AF/yr more inflow: Great Salt Lake Strategic Plan, greatsaltlake.utah.gov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Data centers may not add GSL depletion: Utah Executive Order 2026-03 (May 29, 2026)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About half of Utahns overwater: Sowby, BYU 2022 (aerial imagery + bills)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~3M sq ft converted in 2024, &gt;$7M paid: Utah DWR. 7.3M sq ft, 4,700 participants, $16.8M (Oct 2022–Dec 2025): "Utah's Big Water Win" fact sheet, Slow the Flow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Water-wise partners: slowtheflow.org/partners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 i="0">
                <a:solidFill>
                  <a:srgbClr val="12324A"/>
                </a:solidFill>
                <a:latin typeface="Nunito"/>
              </a:rPr>
              <a:t>•  Our numbers: 12,791 lots, 319 acres of lawn; Greenspace r = 0.77, median ratio 0.97 (84102, 3,104 lots): RESULTS.md Runs 6–7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